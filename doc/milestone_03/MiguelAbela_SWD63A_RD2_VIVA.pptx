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16"/>
  </p:notesMasterIdLst>
  <p:sldIdLst>
    <p:sldId id="256" r:id="rId5"/>
    <p:sldId id="281" r:id="rId6"/>
    <p:sldId id="287" r:id="rId7"/>
    <p:sldId id="308" r:id="rId8"/>
    <p:sldId id="309" r:id="rId9"/>
    <p:sldId id="294" r:id="rId10"/>
    <p:sldId id="313" r:id="rId11"/>
    <p:sldId id="310" r:id="rId12"/>
    <p:sldId id="311" r:id="rId13"/>
    <p:sldId id="307" r:id="rId14"/>
    <p:sldId id="271" r:id="rId15"/>
  </p:sldIdLst>
  <p:sldSz cx="9144000" cy="5143500" type="screen16x9"/>
  <p:notesSz cx="6858000" cy="9144000"/>
  <p:embeddedFontLst>
    <p:embeddedFont>
      <p:font typeface="Lato" panose="020F0502020204030203" pitchFamily="34" charset="0"/>
      <p:regular r:id="rId17"/>
      <p:bold r:id="rId18"/>
      <p:italic r:id="rId19"/>
      <p:boldItalic r:id="rId20"/>
    </p:embeddedFont>
    <p:embeddedFont>
      <p:font typeface="Raleway"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autoAdjust="0"/>
    <p:restoredTop sz="79766" autoAdjust="0"/>
  </p:normalViewPr>
  <p:slideViewPr>
    <p:cSldViewPr snapToGrid="0">
      <p:cViewPr varScale="1">
        <p:scale>
          <a:sx n="87" d="100"/>
          <a:sy n="87" d="100"/>
        </p:scale>
        <p:origin x="1493"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font" Target="fonts/font5.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8.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6.fntdata"/><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en Scerri" userId="55cb7fc9-28b9-4724-a249-160cf577d75d" providerId="ADAL" clId="{C3DD8F9E-32A3-4C34-B681-DF2A224A38DD}"/>
    <pc:docChg chg="delSld modSld">
      <pc:chgData name="Daren Scerri" userId="55cb7fc9-28b9-4724-a249-160cf577d75d" providerId="ADAL" clId="{C3DD8F9E-32A3-4C34-B681-DF2A224A38DD}" dt="2026-04-30T10:24:28.597" v="15" actId="47"/>
      <pc:docMkLst>
        <pc:docMk/>
      </pc:docMkLst>
      <pc:sldChg chg="del">
        <pc:chgData name="Daren Scerri" userId="55cb7fc9-28b9-4724-a249-160cf577d75d" providerId="ADAL" clId="{C3DD8F9E-32A3-4C34-B681-DF2A224A38DD}" dt="2026-04-30T10:23:52.196" v="12" actId="47"/>
        <pc:sldMkLst>
          <pc:docMk/>
          <pc:sldMk cId="0" sldId="257"/>
        </pc:sldMkLst>
      </pc:sldChg>
      <pc:sldChg chg="modSp mod">
        <pc:chgData name="Daren Scerri" userId="55cb7fc9-28b9-4724-a249-160cf577d75d" providerId="ADAL" clId="{C3DD8F9E-32A3-4C34-B681-DF2A224A38DD}" dt="2026-04-30T10:23:46.367" v="11" actId="20577"/>
        <pc:sldMkLst>
          <pc:docMk/>
          <pc:sldMk cId="1491059069" sldId="281"/>
        </pc:sldMkLst>
        <pc:spChg chg="mod">
          <ac:chgData name="Daren Scerri" userId="55cb7fc9-28b9-4724-a249-160cf577d75d" providerId="ADAL" clId="{C3DD8F9E-32A3-4C34-B681-DF2A224A38DD}" dt="2026-04-30T10:23:46.367" v="11" actId="20577"/>
          <ac:spMkLst>
            <pc:docMk/>
            <pc:sldMk cId="1491059069" sldId="281"/>
            <ac:spMk id="60" creationId="{00000000-0000-0000-0000-000000000000}"/>
          </ac:spMkLst>
        </pc:spChg>
      </pc:sldChg>
      <pc:sldChg chg="del">
        <pc:chgData name="Daren Scerri" userId="55cb7fc9-28b9-4724-a249-160cf577d75d" providerId="ADAL" clId="{C3DD8F9E-32A3-4C34-B681-DF2A224A38DD}" dt="2026-04-30T10:23:54.909" v="13" actId="47"/>
        <pc:sldMkLst>
          <pc:docMk/>
          <pc:sldMk cId="1722448282" sldId="282"/>
        </pc:sldMkLst>
      </pc:sldChg>
      <pc:sldChg chg="del">
        <pc:chgData name="Daren Scerri" userId="55cb7fc9-28b9-4724-a249-160cf577d75d" providerId="ADAL" clId="{C3DD8F9E-32A3-4C34-B681-DF2A224A38DD}" dt="2026-04-30T10:24:16.341" v="14" actId="47"/>
        <pc:sldMkLst>
          <pc:docMk/>
          <pc:sldMk cId="4147663647" sldId="292"/>
        </pc:sldMkLst>
      </pc:sldChg>
      <pc:sldChg chg="del">
        <pc:chgData name="Daren Scerri" userId="55cb7fc9-28b9-4724-a249-160cf577d75d" providerId="ADAL" clId="{C3DD8F9E-32A3-4C34-B681-DF2A224A38DD}" dt="2026-04-30T10:24:28.597" v="15" actId="47"/>
        <pc:sldMkLst>
          <pc:docMk/>
          <pc:sldMk cId="3603874867" sldId="2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US" dirty="0"/>
              <a:t>Good morning, today I will be presenting my research on Tree-Based Machine Learning Regression Models for Predicting Marathon Race Times.</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lvl="0" indent="0">
              <a:buNone/>
            </a:pPr>
            <a:r>
              <a:rPr lang="en-US" sz="1100" b="0" i="0" u="none" strike="noStrike" cap="none" dirty="0">
                <a:solidFill>
                  <a:srgbClr val="000000"/>
                </a:solidFill>
                <a:effectLst/>
                <a:latin typeface="Arial"/>
                <a:cs typeface="Arial"/>
                <a:sym typeface="Arial"/>
              </a:rPr>
              <a:t>In recent years, marathon running has increased in popularity, making technology and predictive algorithms a staple within the sport, yet such algorithms remain highly challenging to develop.</a:t>
            </a:r>
          </a:p>
          <a:p>
            <a:pPr marL="158750" lvl="0" indent="0">
              <a:buNone/>
            </a:pPr>
            <a:endParaRPr lang="en-US" sz="1100" b="0" i="0" u="none" strike="noStrike" cap="none" dirty="0">
              <a:solidFill>
                <a:srgbClr val="000000"/>
              </a:solidFill>
              <a:effectLst/>
              <a:latin typeface="Arial"/>
              <a:cs typeface="Arial"/>
              <a:sym typeface="Arial"/>
            </a:endParaRPr>
          </a:p>
          <a:p>
            <a:pPr marL="158750" lvl="0" indent="0">
              <a:buNone/>
            </a:pPr>
            <a:r>
              <a:rPr lang="en-US" b="0" dirty="0"/>
              <a:t>This led to this study in which it is hypothesized that XGBoost will achieve better predictive performance than Random Forest, specifically when using 16 weeks of aggregated training data. To address this hypothesis, the following research questions were formulated, establishing a superior model by assessing the effects of time frame-reduced datasets.</a:t>
            </a:r>
            <a:endParaRPr b="0" dirty="0"/>
          </a:p>
        </p:txBody>
      </p:sp>
    </p:spTree>
    <p:extLst>
      <p:ext uri="{BB962C8B-B14F-4D97-AF65-F5344CB8AC3E}">
        <p14:creationId xmlns:p14="http://schemas.microsoft.com/office/powerpoint/2010/main" val="3761439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US" dirty="0"/>
              <a:t>In view of the hypothesis and research questions, this study adopted a positivist philosophy, driving a deductive approach, and executed via a cross-sectional and mono-method experimental setup.</a:t>
            </a:r>
            <a:endParaRPr dirty="0"/>
          </a:p>
        </p:txBody>
      </p:sp>
    </p:spTree>
    <p:extLst>
      <p:ext uri="{BB962C8B-B14F-4D97-AF65-F5344CB8AC3E}">
        <p14:creationId xmlns:p14="http://schemas.microsoft.com/office/powerpoint/2010/main" val="4072149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US" dirty="0"/>
              <a:t>Subsequently, a research pipeline was developed to create multiple datasets.</a:t>
            </a:r>
            <a:endParaRPr dirty="0"/>
          </a:p>
        </p:txBody>
      </p:sp>
    </p:spTree>
    <p:extLst>
      <p:ext uri="{BB962C8B-B14F-4D97-AF65-F5344CB8AC3E}">
        <p14:creationId xmlns:p14="http://schemas.microsoft.com/office/powerpoint/2010/main" val="896524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AC470C6A-84AC-EA09-2465-199DDE9FC491}"/>
            </a:ext>
          </a:extLst>
        </p:cNvPr>
        <p:cNvGrpSpPr/>
        <p:nvPr/>
      </p:nvGrpSpPr>
      <p:grpSpPr>
        <a:xfrm>
          <a:off x="0" y="0"/>
          <a:ext cx="0" cy="0"/>
          <a:chOff x="0" y="0"/>
          <a:chExt cx="0" cy="0"/>
        </a:xfrm>
      </p:grpSpPr>
      <p:sp>
        <p:nvSpPr>
          <p:cNvPr id="57" name="Shape 57">
            <a:extLst>
              <a:ext uri="{FF2B5EF4-FFF2-40B4-BE49-F238E27FC236}">
                <a16:creationId xmlns:a16="http://schemas.microsoft.com/office/drawing/2014/main" id="{6CF1C6D9-2D46-2356-EB2D-6CE42CC47433}"/>
              </a:ext>
            </a:extLst>
          </p:cNvPr>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a:extLst>
              <a:ext uri="{FF2B5EF4-FFF2-40B4-BE49-F238E27FC236}">
                <a16:creationId xmlns:a16="http://schemas.microsoft.com/office/drawing/2014/main" id="{36DFFDC3-00A7-DECF-7386-E83C391335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US" dirty="0"/>
              <a:t>Moving on to the methodology, a sequentially ordered dataset comprising daily running activities was initially acquired.</a:t>
            </a:r>
          </a:p>
          <a:p>
            <a:pPr marL="0" lvl="0" indent="0">
              <a:spcBef>
                <a:spcPts val="0"/>
              </a:spcBef>
              <a:spcAft>
                <a:spcPts val="0"/>
              </a:spcAft>
              <a:buNone/>
            </a:pPr>
            <a:endParaRPr lang="en-US" dirty="0"/>
          </a:p>
          <a:p>
            <a:pPr marL="0" lvl="0" indent="0">
              <a:spcBef>
                <a:spcPts val="0"/>
              </a:spcBef>
              <a:spcAft>
                <a:spcPts val="0"/>
              </a:spcAft>
              <a:buNone/>
            </a:pPr>
            <a:r>
              <a:rPr lang="en-US" dirty="0"/>
              <a:t>To achieve this study’s objectives, a filtered dataset emerged, consisting of male runners aged 35 to 54. After viewing other studies, from this demographic-specific data source, six condensed datasets with additional features were developed, starting from 16 weeks until reaching 6 weeks in 2-week intervals. Every athlete’s data was thus aggregated to match model requirements.</a:t>
            </a:r>
          </a:p>
          <a:p>
            <a:pPr marL="0" lvl="0" indent="0">
              <a:spcBef>
                <a:spcPts val="0"/>
              </a:spcBef>
              <a:spcAft>
                <a:spcPts val="0"/>
              </a:spcAft>
              <a:buNone/>
            </a:pPr>
            <a:endParaRPr lang="en-US" dirty="0"/>
          </a:p>
          <a:p>
            <a:pPr marL="0" lvl="0" indent="0">
              <a:spcBef>
                <a:spcPts val="0"/>
              </a:spcBef>
              <a:spcAft>
                <a:spcPts val="0"/>
              </a:spcAft>
              <a:buNone/>
            </a:pPr>
            <a:r>
              <a:rPr lang="en-US" dirty="0"/>
              <a:t>Using the reference solution, model architectures were established and kept the same throughout the experiments, for an unbiased comparison. As adopted by other studies, the experiments were repeated 3 times using a 10-fold cross-validation technique to mitigate any random errors and validate the results.</a:t>
            </a:r>
          </a:p>
          <a:p>
            <a:pPr marL="0" lvl="0" indent="0">
              <a:spcBef>
                <a:spcPts val="0"/>
              </a:spcBef>
              <a:spcAft>
                <a:spcPts val="0"/>
              </a:spcAft>
              <a:buNone/>
            </a:pPr>
            <a:endParaRPr lang="en-US" dirty="0"/>
          </a:p>
          <a:p>
            <a:pPr marL="0" lvl="0" indent="0">
              <a:spcBef>
                <a:spcPts val="0"/>
              </a:spcBef>
              <a:spcAft>
                <a:spcPts val="0"/>
              </a:spcAft>
              <a:buNone/>
            </a:pPr>
            <a:r>
              <a:rPr lang="en-US" dirty="0"/>
              <a:t>Before conducting these six experiments, benchmark models were created to facilitate evaluation through the Mean Absolute Error, Root Mean Squared Error, and R-squared values. </a:t>
            </a:r>
          </a:p>
        </p:txBody>
      </p:sp>
    </p:spTree>
    <p:extLst>
      <p:ext uri="{BB962C8B-B14F-4D97-AF65-F5344CB8AC3E}">
        <p14:creationId xmlns:p14="http://schemas.microsoft.com/office/powerpoint/2010/main" val="3218794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US" b="0" dirty="0"/>
              <a:t>These were the results obtained by the benchmark models. Notably, the best model was XGBoost, having the predicted average marathon race time off by approximately 21 minutes.</a:t>
            </a:r>
          </a:p>
        </p:txBody>
      </p:sp>
    </p:spTree>
    <p:extLst>
      <p:ext uri="{BB962C8B-B14F-4D97-AF65-F5344CB8AC3E}">
        <p14:creationId xmlns:p14="http://schemas.microsoft.com/office/powerpoint/2010/main" val="8231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56A68DDC-B25D-C7D2-0C6C-941AED451193}"/>
            </a:ext>
          </a:extLst>
        </p:cNvPr>
        <p:cNvGrpSpPr/>
        <p:nvPr/>
      </p:nvGrpSpPr>
      <p:grpSpPr>
        <a:xfrm>
          <a:off x="0" y="0"/>
          <a:ext cx="0" cy="0"/>
          <a:chOff x="0" y="0"/>
          <a:chExt cx="0" cy="0"/>
        </a:xfrm>
      </p:grpSpPr>
      <p:sp>
        <p:nvSpPr>
          <p:cNvPr id="57" name="Shape 57">
            <a:extLst>
              <a:ext uri="{FF2B5EF4-FFF2-40B4-BE49-F238E27FC236}">
                <a16:creationId xmlns:a16="http://schemas.microsoft.com/office/drawing/2014/main" id="{1EDF6906-D42B-6413-835E-A80A4D333369}"/>
              </a:ext>
            </a:extLst>
          </p:cNvPr>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a:extLst>
              <a:ext uri="{FF2B5EF4-FFF2-40B4-BE49-F238E27FC236}">
                <a16:creationId xmlns:a16="http://schemas.microsoft.com/office/drawing/2014/main" id="{4DEDFB0F-077E-6EF8-A6A7-1F4BB73B25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US" b="0" dirty="0"/>
              <a:t>On the other hand, when having a controlled environment, with aligned training block data, and a repeated k-fold cross-validation technique, the results show otherwise.</a:t>
            </a:r>
          </a:p>
          <a:p>
            <a:pPr marL="0" lvl="0" indent="0">
              <a:spcBef>
                <a:spcPts val="0"/>
              </a:spcBef>
              <a:spcAft>
                <a:spcPts val="0"/>
              </a:spcAft>
              <a:buNone/>
            </a:pPr>
            <a:endParaRPr lang="en-US" b="0" dirty="0"/>
          </a:p>
          <a:p>
            <a:pPr marL="0" lvl="0" indent="0">
              <a:spcBef>
                <a:spcPts val="0"/>
              </a:spcBef>
              <a:spcAft>
                <a:spcPts val="0"/>
              </a:spcAft>
              <a:buNone/>
            </a:pPr>
            <a:r>
              <a:rPr lang="en-US" b="0" dirty="0"/>
              <a:t>The Random Forest regressor showed a continuously better predictive performance compared to XGBoost across all time steps, reaching an average prediction of almost 16.5 minutes, with the RMSE following this trend. Also, the R-squared value shows that 69% of the variance in the dependent variable was explained by the input features. This clearly showed that data quality is preferred over quantity by both models. </a:t>
            </a:r>
          </a:p>
          <a:p>
            <a:pPr marL="0" lvl="0" indent="0">
              <a:spcBef>
                <a:spcPts val="0"/>
              </a:spcBef>
              <a:spcAft>
                <a:spcPts val="0"/>
              </a:spcAft>
              <a:buNone/>
            </a:pPr>
            <a:endParaRPr lang="en-US" b="0" dirty="0"/>
          </a:p>
          <a:p>
            <a:pPr marL="0" lvl="0" indent="0">
              <a:spcBef>
                <a:spcPts val="0"/>
              </a:spcBef>
              <a:spcAft>
                <a:spcPts val="0"/>
              </a:spcAft>
              <a:buNone/>
            </a:pPr>
            <a:r>
              <a:rPr lang="en-US" b="0" dirty="0"/>
              <a:t>Moreover, with a best benchmark MAE of 21.39 minutes, such methodological decisions and experimental designs in this study improved the predictive capabilities of the models by nearly 4 minutes and showed that Linear Regression is less applicable in this domain. One can also argue that XGBoost might be better when given a diverse demographic dataset.</a:t>
            </a:r>
          </a:p>
          <a:p>
            <a:pPr marL="0" lvl="0" indent="0">
              <a:spcBef>
                <a:spcPts val="0"/>
              </a:spcBef>
              <a:spcAft>
                <a:spcPts val="0"/>
              </a:spcAft>
              <a:buNone/>
            </a:pPr>
            <a:endParaRPr lang="en-US" b="0" dirty="0"/>
          </a:p>
          <a:p>
            <a:pPr marL="0" lvl="0" indent="0">
              <a:spcBef>
                <a:spcPts val="0"/>
              </a:spcBef>
              <a:spcAft>
                <a:spcPts val="0"/>
              </a:spcAft>
              <a:buNone/>
            </a:pPr>
            <a:r>
              <a:rPr lang="en-US" b="0" dirty="0"/>
              <a:t>It is important to note that the shaded area within the graphs is the standard deviation obtained from the repeated experiments.</a:t>
            </a:r>
          </a:p>
        </p:txBody>
      </p:sp>
    </p:spTree>
    <p:extLst>
      <p:ext uri="{BB962C8B-B14F-4D97-AF65-F5344CB8AC3E}">
        <p14:creationId xmlns:p14="http://schemas.microsoft.com/office/powerpoint/2010/main" val="40393952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352642FC-C368-7017-6638-0A01037B5A10}"/>
            </a:ext>
          </a:extLst>
        </p:cNvPr>
        <p:cNvGrpSpPr/>
        <p:nvPr/>
      </p:nvGrpSpPr>
      <p:grpSpPr>
        <a:xfrm>
          <a:off x="0" y="0"/>
          <a:ext cx="0" cy="0"/>
          <a:chOff x="0" y="0"/>
          <a:chExt cx="0" cy="0"/>
        </a:xfrm>
      </p:grpSpPr>
      <p:sp>
        <p:nvSpPr>
          <p:cNvPr id="57" name="Shape 57">
            <a:extLst>
              <a:ext uri="{FF2B5EF4-FFF2-40B4-BE49-F238E27FC236}">
                <a16:creationId xmlns:a16="http://schemas.microsoft.com/office/drawing/2014/main" id="{5C423A31-82AD-67B1-44DB-C9ED56FA580E}"/>
              </a:ext>
            </a:extLst>
          </p:cNvPr>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a:extLst>
              <a:ext uri="{FF2B5EF4-FFF2-40B4-BE49-F238E27FC236}">
                <a16:creationId xmlns:a16="http://schemas.microsoft.com/office/drawing/2014/main" id="{E5EE326D-66D8-537E-47DF-459B1A006F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Font typeface="Arial" panose="020B0604020202020204" pitchFamily="34" charset="0"/>
              <a:buNone/>
            </a:pPr>
            <a:r>
              <a:rPr lang="en-US" b="0" dirty="0"/>
              <a:t>Reflecting on the first research question, it can be confidently said that Random Forest was the superior model in this specific scenario. Also, for the second research question, the amount of historical data does affect the predictive accuracy of the models since it improved closer to race day.</a:t>
            </a:r>
          </a:p>
          <a:p>
            <a:pPr marL="0" lvl="0" indent="0">
              <a:spcBef>
                <a:spcPts val="0"/>
              </a:spcBef>
              <a:spcAft>
                <a:spcPts val="0"/>
              </a:spcAft>
              <a:buFont typeface="Arial" panose="020B0604020202020204" pitchFamily="34" charset="0"/>
              <a:buNone/>
            </a:pPr>
            <a:endParaRPr lang="en-US" b="0" dirty="0"/>
          </a:p>
          <a:p>
            <a:pPr marL="0" lvl="0" indent="0">
              <a:spcBef>
                <a:spcPts val="0"/>
              </a:spcBef>
              <a:spcAft>
                <a:spcPts val="0"/>
              </a:spcAft>
              <a:buFont typeface="Arial" panose="020B0604020202020204" pitchFamily="34" charset="0"/>
              <a:buNone/>
            </a:pPr>
            <a:r>
              <a:rPr lang="en-US" b="0" dirty="0"/>
              <a:t>In addressing the original hypothesis, this can be rejected, and it can be stated that Random Forest achieved the best predictive performance at Week 6, rather than XGBoost being the superior model at Week 16. Thus, this shows the strength of simpler tree-based machine learning models.</a:t>
            </a:r>
          </a:p>
        </p:txBody>
      </p:sp>
    </p:spTree>
    <p:extLst>
      <p:ext uri="{BB962C8B-B14F-4D97-AF65-F5344CB8AC3E}">
        <p14:creationId xmlns:p14="http://schemas.microsoft.com/office/powerpoint/2010/main" val="3042611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4669D237-7568-DFFF-104D-C0FFDBF5F9A4}"/>
            </a:ext>
          </a:extLst>
        </p:cNvPr>
        <p:cNvGrpSpPr/>
        <p:nvPr/>
      </p:nvGrpSpPr>
      <p:grpSpPr>
        <a:xfrm>
          <a:off x="0" y="0"/>
          <a:ext cx="0" cy="0"/>
          <a:chOff x="0" y="0"/>
          <a:chExt cx="0" cy="0"/>
        </a:xfrm>
      </p:grpSpPr>
      <p:sp>
        <p:nvSpPr>
          <p:cNvPr id="57" name="Shape 57">
            <a:extLst>
              <a:ext uri="{FF2B5EF4-FFF2-40B4-BE49-F238E27FC236}">
                <a16:creationId xmlns:a16="http://schemas.microsoft.com/office/drawing/2014/main" id="{7E577EAF-2D03-9255-B2CD-CF8C6D816AE4}"/>
              </a:ext>
            </a:extLst>
          </p:cNvPr>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a:extLst>
              <a:ext uri="{FF2B5EF4-FFF2-40B4-BE49-F238E27FC236}">
                <a16:creationId xmlns:a16="http://schemas.microsoft.com/office/drawing/2014/main" id="{6F751BC5-EE7B-3E0A-8C28-189568671F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Font typeface="Arial" panose="020B0604020202020204" pitchFamily="34" charset="0"/>
              <a:buNone/>
            </a:pPr>
            <a:r>
              <a:rPr lang="en-US" dirty="0"/>
              <a:t>Despite successful results, the model faces two main limitations: </a:t>
            </a:r>
          </a:p>
          <a:p>
            <a:pPr marL="171450" lvl="0" indent="-171450">
              <a:spcBef>
                <a:spcPts val="0"/>
              </a:spcBef>
              <a:spcAft>
                <a:spcPts val="0"/>
              </a:spcAft>
              <a:buFontTx/>
              <a:buChar char="-"/>
            </a:pPr>
            <a:r>
              <a:rPr lang="en-US" dirty="0"/>
              <a:t>Its focus on a single demographic restricts generalizability</a:t>
            </a:r>
          </a:p>
          <a:p>
            <a:pPr marL="171450" lvl="0" indent="-171450">
              <a:spcBef>
                <a:spcPts val="0"/>
              </a:spcBef>
              <a:spcAft>
                <a:spcPts val="0"/>
              </a:spcAft>
              <a:buFontTx/>
              <a:buChar char="-"/>
            </a:pPr>
            <a:r>
              <a:rPr lang="en-US" dirty="0"/>
              <a:t>And a lack of data excludes the Tokyo Marathon, limiting its applicability to the other five majors</a:t>
            </a:r>
          </a:p>
          <a:p>
            <a:pPr marL="0" lvl="0" indent="0">
              <a:spcBef>
                <a:spcPts val="0"/>
              </a:spcBef>
              <a:spcAft>
                <a:spcPts val="0"/>
              </a:spcAft>
              <a:buFont typeface="Arial" panose="020B0604020202020204" pitchFamily="34" charset="0"/>
              <a:buNone/>
            </a:pPr>
            <a:endParaRPr lang="en-US" dirty="0"/>
          </a:p>
          <a:p>
            <a:pPr marL="0" lvl="0" indent="0">
              <a:spcBef>
                <a:spcPts val="0"/>
              </a:spcBef>
              <a:spcAft>
                <a:spcPts val="0"/>
              </a:spcAft>
              <a:buFont typeface="Arial" panose="020B0604020202020204" pitchFamily="34" charset="0"/>
              <a:buNone/>
            </a:pPr>
            <a:r>
              <a:rPr lang="en-US" dirty="0"/>
              <a:t>Future work should expand to broader demographics, optimize predictions through hyperparameter tuning, and explore alternative tree-based regressors like LightGBM.</a:t>
            </a:r>
            <a:endParaRPr lang="en-US" b="0" dirty="0"/>
          </a:p>
        </p:txBody>
      </p:sp>
    </p:spTree>
    <p:extLst>
      <p:ext uri="{BB962C8B-B14F-4D97-AF65-F5344CB8AC3E}">
        <p14:creationId xmlns:p14="http://schemas.microsoft.com/office/powerpoint/2010/main" val="8848299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US" dirty="0"/>
              <a:t>These were the references used within this presentation.</a:t>
            </a:r>
            <a:endParaRPr dirty="0"/>
          </a:p>
        </p:txBody>
      </p:sp>
    </p:spTree>
    <p:extLst>
      <p:ext uri="{BB962C8B-B14F-4D97-AF65-F5344CB8AC3E}">
        <p14:creationId xmlns:p14="http://schemas.microsoft.com/office/powerpoint/2010/main" val="3294784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Thank you</a:t>
            </a:r>
            <a:endParaRPr lang="en-MT" dirty="0"/>
          </a:p>
        </p:txBody>
      </p:sp>
    </p:spTree>
    <p:extLst>
      <p:ext uri="{BB962C8B-B14F-4D97-AF65-F5344CB8AC3E}">
        <p14:creationId xmlns:p14="http://schemas.microsoft.com/office/powerpoint/2010/main" val="1328220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Shape 1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Shape 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Shape 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Shape 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Shape 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preserve="1" userDrawn="1">
  <p:cSld name="1_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Shape 18"/>
          <p:cNvSpPr txBox="1">
            <a:spLocks noGrp="1"/>
          </p:cNvSpPr>
          <p:nvPr>
            <p:ph type="body" idx="1"/>
          </p:nvPr>
        </p:nvSpPr>
        <p:spPr>
          <a:xfrm>
            <a:off x="311700" y="1152475"/>
            <a:ext cx="393034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dirty="0"/>
          </a:p>
        </p:txBody>
      </p:sp>
      <p:sp>
        <p:nvSpPr>
          <p:cNvPr id="19" name="Shape 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
        <p:nvSpPr>
          <p:cNvPr id="4" name="Picture Placeholder 3">
            <a:extLst>
              <a:ext uri="{FF2B5EF4-FFF2-40B4-BE49-F238E27FC236}">
                <a16:creationId xmlns:a16="http://schemas.microsoft.com/office/drawing/2014/main" id="{6C5A610E-6324-4C28-9F4D-98C43BE8E1AA}"/>
              </a:ext>
            </a:extLst>
          </p:cNvPr>
          <p:cNvSpPr>
            <a:spLocks noGrp="1"/>
          </p:cNvSpPr>
          <p:nvPr>
            <p:ph type="pic" sz="quarter" idx="13"/>
          </p:nvPr>
        </p:nvSpPr>
        <p:spPr>
          <a:xfrm>
            <a:off x="4335552" y="1151118"/>
            <a:ext cx="4495740" cy="3420882"/>
          </a:xfrm>
        </p:spPr>
        <p:txBody>
          <a:bodyPr/>
          <a:lstStyle/>
          <a:p>
            <a:endParaRPr lang="en-GB" dirty="0"/>
          </a:p>
        </p:txBody>
      </p:sp>
    </p:spTree>
    <p:extLst>
      <p:ext uri="{BB962C8B-B14F-4D97-AF65-F5344CB8AC3E}">
        <p14:creationId xmlns:p14="http://schemas.microsoft.com/office/powerpoint/2010/main" val="2357197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Shape 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Shape 3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Shape 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Shape 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 name="Shape 37"/>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Shape 38"/>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Shape 3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Shape 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3" name="Shape 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Shape 45"/>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Shape 46"/>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Shape 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Shape 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Shape 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Shape 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60"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dl.acm.org/doi/10.1145/3383313.3412220"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hyperlink" Target="http://www.thieme-connect.de/DOI/DOI?10.1055/a-2401-6234"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311708" y="518985"/>
            <a:ext cx="8520600" cy="2278190"/>
          </a:xfrm>
          <a:prstGeom prst="rect">
            <a:avLst/>
          </a:prstGeom>
        </p:spPr>
        <p:txBody>
          <a:bodyPr spcFirstLastPara="1" wrap="square" lIns="91425" tIns="91425" rIns="91425" bIns="91425" anchor="b" anchorCtr="0">
            <a:noAutofit/>
          </a:bodyPr>
          <a:lstStyle/>
          <a:p>
            <a:pPr lvl="0"/>
            <a:r>
              <a:rPr lang="en-US" sz="4000" b="1" dirty="0">
                <a:latin typeface="Raleway"/>
                <a:ea typeface="Raleway"/>
                <a:cs typeface="Raleway"/>
                <a:sym typeface="Raleway"/>
              </a:rPr>
              <a:t>Tree-Based Machine Learning Regression Models for Predicting </a:t>
            </a:r>
            <a:br>
              <a:rPr lang="en-US" sz="4000" b="1" dirty="0">
                <a:latin typeface="Raleway"/>
                <a:ea typeface="Raleway"/>
                <a:cs typeface="Raleway"/>
                <a:sym typeface="Raleway"/>
              </a:rPr>
            </a:br>
            <a:r>
              <a:rPr lang="en-US" sz="4000" b="1" dirty="0">
                <a:latin typeface="Raleway"/>
                <a:ea typeface="Raleway"/>
                <a:cs typeface="Raleway"/>
                <a:sym typeface="Raleway"/>
              </a:rPr>
              <a:t>Marathon Race Times</a:t>
            </a:r>
            <a:endParaRPr sz="4000" b="1" dirty="0">
              <a:latin typeface="Raleway"/>
              <a:ea typeface="Raleway"/>
              <a:cs typeface="Raleway"/>
              <a:sym typeface="Raleway"/>
            </a:endParaRPr>
          </a:p>
        </p:txBody>
      </p:sp>
      <p:sp>
        <p:nvSpPr>
          <p:cNvPr id="55" name="Shape 55"/>
          <p:cNvSpPr txBox="1">
            <a:spLocks noGrp="1"/>
          </p:cNvSpPr>
          <p:nvPr>
            <p:ph type="subTitle" idx="1"/>
          </p:nvPr>
        </p:nvSpPr>
        <p:spPr>
          <a:xfrm>
            <a:off x="311700" y="2834124"/>
            <a:ext cx="8520600" cy="2125333"/>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US" dirty="0">
                <a:latin typeface="Lato"/>
                <a:ea typeface="Lato"/>
                <a:cs typeface="Lato"/>
                <a:sym typeface="Lato"/>
              </a:rPr>
              <a:t>Miguel Abela </a:t>
            </a:r>
            <a:r>
              <a:rPr lang="en" dirty="0">
                <a:latin typeface="Lato"/>
                <a:ea typeface="Lato"/>
                <a:cs typeface="Lato"/>
                <a:sym typeface="Lato"/>
              </a:rPr>
              <a:t>&amp; </a:t>
            </a:r>
            <a:r>
              <a:rPr lang="en-US" dirty="0">
                <a:latin typeface="Lato"/>
                <a:ea typeface="Lato"/>
                <a:cs typeface="Lato"/>
                <a:sym typeface="Lato"/>
              </a:rPr>
              <a:t>Daren Scerri</a:t>
            </a:r>
            <a:endParaRPr lang="en" dirty="0">
              <a:latin typeface="Lato"/>
              <a:ea typeface="Lato"/>
              <a:cs typeface="Lato"/>
              <a:sym typeface="Lato"/>
            </a:endParaRPr>
          </a:p>
          <a:p>
            <a:pPr marL="0" lvl="0" indent="0">
              <a:spcBef>
                <a:spcPts val="0"/>
              </a:spcBef>
              <a:spcAft>
                <a:spcPts val="0"/>
              </a:spcAft>
              <a:buNone/>
            </a:pPr>
            <a:r>
              <a:rPr lang="en" sz="2400" dirty="0">
                <a:latin typeface="Lato"/>
                <a:ea typeface="Lato"/>
                <a:cs typeface="Lato"/>
                <a:sym typeface="Lato"/>
              </a:rPr>
              <a:t>Institute of Information &amp; Communication Technology</a:t>
            </a:r>
          </a:p>
          <a:p>
            <a:pPr marL="0" lvl="0" indent="0">
              <a:spcBef>
                <a:spcPts val="0"/>
              </a:spcBef>
              <a:spcAft>
                <a:spcPts val="0"/>
              </a:spcAft>
              <a:buNone/>
            </a:pPr>
            <a:r>
              <a:rPr lang="en" sz="2400" dirty="0">
                <a:latin typeface="Lato"/>
                <a:ea typeface="Lato"/>
                <a:cs typeface="Lato"/>
                <a:sym typeface="Lato"/>
              </a:rPr>
              <a:t>MCAST, Paola, Malta</a:t>
            </a:r>
          </a:p>
          <a:p>
            <a:pPr marL="0" lvl="0" indent="0">
              <a:spcBef>
                <a:spcPts val="0"/>
              </a:spcBef>
              <a:spcAft>
                <a:spcPts val="0"/>
              </a:spcAft>
              <a:buNone/>
            </a:pPr>
            <a:endParaRPr lang="en" sz="2400" dirty="0">
              <a:latin typeface="Lato"/>
              <a:ea typeface="Lato"/>
              <a:cs typeface="Lato"/>
              <a:sym typeface="Lato"/>
            </a:endParaRPr>
          </a:p>
        </p:txBody>
      </p:sp>
      <p:cxnSp>
        <p:nvCxnSpPr>
          <p:cNvPr id="4" name="Straight Connector 3">
            <a:extLst>
              <a:ext uri="{FF2B5EF4-FFF2-40B4-BE49-F238E27FC236}">
                <a16:creationId xmlns:a16="http://schemas.microsoft.com/office/drawing/2014/main" id="{36CC284B-5107-E745-9630-DD6C2A410927}"/>
              </a:ext>
            </a:extLst>
          </p:cNvPr>
          <p:cNvCxnSpPr/>
          <p:nvPr/>
        </p:nvCxnSpPr>
        <p:spPr>
          <a:xfrm>
            <a:off x="119270" y="2794483"/>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8" name="Picture 7" descr="Shape&#10;&#10;Description automatically generated with medium confidence">
            <a:extLst>
              <a:ext uri="{FF2B5EF4-FFF2-40B4-BE49-F238E27FC236}">
                <a16:creationId xmlns:a16="http://schemas.microsoft.com/office/drawing/2014/main" id="{B8E9EC66-EE26-4981-8CB8-3FF197B22AAE}"/>
              </a:ext>
            </a:extLst>
          </p:cNvPr>
          <p:cNvPicPr>
            <a:picLocks noChangeAspect="1"/>
          </p:cNvPicPr>
          <p:nvPr/>
        </p:nvPicPr>
        <p:blipFill>
          <a:blip r:embed="rId3"/>
          <a:stretch>
            <a:fillRect/>
          </a:stretch>
        </p:blipFill>
        <p:spPr>
          <a:xfrm>
            <a:off x="6382381" y="4102874"/>
            <a:ext cx="2449919" cy="8565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xfrm>
            <a:off x="311700" y="445025"/>
            <a:ext cx="8520600" cy="981900"/>
          </a:xfrm>
          <a:prstGeom prst="rect">
            <a:avLst/>
          </a:prstGeom>
        </p:spPr>
        <p:txBody>
          <a:bodyPr spcFirstLastPara="1" wrap="square" lIns="91425" tIns="91425" rIns="91425" bIns="91425" anchor="t" anchorCtr="0">
            <a:noAutofit/>
          </a:bodyPr>
          <a:lstStyle/>
          <a:p>
            <a:pPr lvl="0" algn="ctr"/>
            <a:r>
              <a:rPr lang="en" b="1" dirty="0">
                <a:latin typeface="Raleway"/>
                <a:ea typeface="Raleway"/>
                <a:cs typeface="Raleway"/>
                <a:sym typeface="Raleway"/>
              </a:rPr>
              <a:t>Background, Hypothesis &amp; Questions</a:t>
            </a:r>
            <a:endParaRPr sz="2000" b="1" dirty="0">
              <a:latin typeface="Raleway"/>
              <a:ea typeface="Raleway"/>
              <a:cs typeface="Raleway"/>
              <a:sym typeface="Raleway"/>
            </a:endParaRPr>
          </a:p>
        </p:txBody>
      </p:sp>
      <p:cxnSp>
        <p:nvCxnSpPr>
          <p:cNvPr id="5" name="Straight Connector 4">
            <a:extLst>
              <a:ext uri="{FF2B5EF4-FFF2-40B4-BE49-F238E27FC236}">
                <a16:creationId xmlns:a16="http://schemas.microsoft.com/office/drawing/2014/main" id="{EE6088A9-71E6-8549-BEC2-BFBC476C30CA}"/>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D83BEE64-D478-46E3-9F61-901B1B8AD7B9}"/>
              </a:ext>
            </a:extLst>
          </p:cNvPr>
          <p:cNvSpPr>
            <a:spLocks noGrp="1"/>
          </p:cNvSpPr>
          <p:nvPr>
            <p:ph type="body" idx="1"/>
          </p:nvPr>
        </p:nvSpPr>
        <p:spPr>
          <a:xfrm>
            <a:off x="311700" y="1152475"/>
            <a:ext cx="8520600" cy="3416400"/>
          </a:xfrm>
        </p:spPr>
        <p:txBody>
          <a:bodyPr/>
          <a:lstStyle/>
          <a:p>
            <a:pPr algn="just"/>
            <a:r>
              <a:rPr lang="en-GB" sz="1600" b="1" dirty="0"/>
              <a:t>Background:</a:t>
            </a:r>
            <a:r>
              <a:rPr lang="en-GB" sz="1600" dirty="0"/>
              <a:t> The popularity of long-distance endurance running led to the importance of predictive race-day algorithms. Such algorithm development remains a challenge.</a:t>
            </a:r>
          </a:p>
          <a:p>
            <a:pPr algn="just"/>
            <a:endParaRPr lang="en-GB" dirty="0"/>
          </a:p>
          <a:p>
            <a:pPr algn="just"/>
            <a:r>
              <a:rPr lang="en-GB" sz="1600" b="1" dirty="0"/>
              <a:t>Hypothesis:</a:t>
            </a:r>
            <a:r>
              <a:rPr lang="en-GB" sz="1600" dirty="0"/>
              <a:t> XGBoost will achieve the best predictive performance compared to Random Forest, specifically at Week 16.</a:t>
            </a:r>
          </a:p>
          <a:p>
            <a:pPr algn="just"/>
            <a:endParaRPr lang="en-GB" dirty="0"/>
          </a:p>
          <a:p>
            <a:pPr algn="just"/>
            <a:r>
              <a:rPr lang="en-GB" sz="1600" b="1" dirty="0"/>
              <a:t>Research Questions:</a:t>
            </a:r>
          </a:p>
          <a:p>
            <a:pPr lvl="1" algn="just"/>
            <a:r>
              <a:rPr lang="en-US" b="1" dirty="0"/>
              <a:t>RQ1:</a:t>
            </a:r>
            <a:r>
              <a:rPr lang="en-US" dirty="0"/>
              <a:t> Which tree-based machine learning regressor obtains the highest predictive performance when forecasting an athlete’s marathon race time?</a:t>
            </a:r>
          </a:p>
          <a:p>
            <a:pPr lvl="1" algn="just"/>
            <a:r>
              <a:rPr lang="en-US" b="1" dirty="0"/>
              <a:t>RQ2:</a:t>
            </a:r>
            <a:r>
              <a:rPr lang="en-US" dirty="0"/>
              <a:t> To what extent does the amount of weekly historical data affect the predictive accuracy?</a:t>
            </a:r>
          </a:p>
          <a:p>
            <a:pPr lvl="1" algn="just"/>
            <a:endParaRPr lang="en-GB" dirty="0"/>
          </a:p>
          <a:p>
            <a:pPr algn="just"/>
            <a:endParaRPr lang="en-GB" dirty="0"/>
          </a:p>
        </p:txBody>
      </p:sp>
    </p:spTree>
    <p:extLst>
      <p:ext uri="{BB962C8B-B14F-4D97-AF65-F5344CB8AC3E}">
        <p14:creationId xmlns:p14="http://schemas.microsoft.com/office/powerpoint/2010/main" val="1491059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prstGeom prst="rect">
            <a:avLst/>
          </a:prstGeom>
        </p:spPr>
        <p:txBody>
          <a:bodyPr spcFirstLastPara="1" wrap="square" lIns="91425" tIns="91425" rIns="91425" bIns="91425" anchor="t" anchorCtr="0">
            <a:noAutofit/>
          </a:bodyPr>
          <a:lstStyle/>
          <a:p>
            <a:pPr lvl="0" algn="ctr"/>
            <a:r>
              <a:rPr lang="en-GB" b="1" dirty="0">
                <a:latin typeface="Raleway"/>
                <a:ea typeface="Raleway"/>
                <a:cs typeface="Raleway"/>
                <a:sym typeface="Raleway"/>
              </a:rPr>
              <a:t>Methodological Framework</a:t>
            </a:r>
            <a:endParaRPr sz="2000" b="1" dirty="0">
              <a:latin typeface="Raleway"/>
              <a:ea typeface="Raleway"/>
              <a:cs typeface="Raleway"/>
              <a:sym typeface="Raleway"/>
            </a:endParaRPr>
          </a:p>
        </p:txBody>
      </p:sp>
      <p:cxnSp>
        <p:nvCxnSpPr>
          <p:cNvPr id="5" name="Straight Connector 4">
            <a:extLst>
              <a:ext uri="{FF2B5EF4-FFF2-40B4-BE49-F238E27FC236}">
                <a16:creationId xmlns:a16="http://schemas.microsoft.com/office/drawing/2014/main" id="{EE6088A9-71E6-8549-BEC2-BFBC476C30CA}"/>
              </a:ext>
            </a:extLst>
          </p:cNvPr>
          <p:cNvCxnSpPr>
            <a:cxnSpLocks/>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DD4D509C-F336-04FC-99FE-48AB99B487FE}"/>
              </a:ext>
            </a:extLst>
          </p:cNvPr>
          <p:cNvPicPr>
            <a:picLocks noChangeAspect="1"/>
          </p:cNvPicPr>
          <p:nvPr/>
        </p:nvPicPr>
        <p:blipFill>
          <a:blip r:embed="rId3"/>
          <a:srcRect l="585" t="845" r="1820" b="1512"/>
          <a:stretch>
            <a:fillRect/>
          </a:stretch>
        </p:blipFill>
        <p:spPr>
          <a:xfrm>
            <a:off x="1934288" y="1145059"/>
            <a:ext cx="5275423" cy="3772930"/>
          </a:xfrm>
          <a:prstGeom prst="rect">
            <a:avLst/>
          </a:prstGeom>
          <a:ln>
            <a:solidFill>
              <a:schemeClr val="bg1"/>
            </a:solidFill>
          </a:ln>
        </p:spPr>
      </p:pic>
    </p:spTree>
    <p:extLst>
      <p:ext uri="{BB962C8B-B14F-4D97-AF65-F5344CB8AC3E}">
        <p14:creationId xmlns:p14="http://schemas.microsoft.com/office/powerpoint/2010/main" val="3392495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xfrm>
            <a:off x="414564" y="2123356"/>
            <a:ext cx="1784242" cy="896787"/>
          </a:xfrm>
          <a:prstGeom prst="rect">
            <a:avLst/>
          </a:prstGeom>
        </p:spPr>
        <p:txBody>
          <a:bodyPr spcFirstLastPara="1" wrap="square" lIns="91425" tIns="91425" rIns="91425" bIns="91425" anchor="t" anchorCtr="0">
            <a:noAutofit/>
          </a:bodyPr>
          <a:lstStyle/>
          <a:p>
            <a:pPr lvl="0" algn="ctr"/>
            <a:r>
              <a:rPr lang="en-GB" sz="2400" b="1" dirty="0">
                <a:latin typeface="Raleway"/>
                <a:ea typeface="Raleway"/>
                <a:cs typeface="Raleway"/>
                <a:sym typeface="Raleway"/>
              </a:rPr>
              <a:t>Research Pipeline</a:t>
            </a:r>
            <a:br>
              <a:rPr lang="en-GB" sz="2400" b="1" dirty="0">
                <a:latin typeface="Raleway"/>
                <a:ea typeface="Raleway"/>
                <a:cs typeface="Raleway"/>
                <a:sym typeface="Raleway"/>
              </a:rPr>
            </a:br>
            <a:endParaRPr sz="1800" b="1" dirty="0">
              <a:latin typeface="Raleway"/>
              <a:ea typeface="Raleway"/>
              <a:cs typeface="Raleway"/>
              <a:sym typeface="Raleway"/>
            </a:endParaRPr>
          </a:p>
        </p:txBody>
      </p:sp>
      <p:cxnSp>
        <p:nvCxnSpPr>
          <p:cNvPr id="5" name="Straight Connector 4">
            <a:extLst>
              <a:ext uri="{FF2B5EF4-FFF2-40B4-BE49-F238E27FC236}">
                <a16:creationId xmlns:a16="http://schemas.microsoft.com/office/drawing/2014/main" id="{EE6088A9-71E6-8549-BEC2-BFBC476C30CA}"/>
              </a:ext>
            </a:extLst>
          </p:cNvPr>
          <p:cNvCxnSpPr>
            <a:cxnSpLocks/>
          </p:cNvCxnSpPr>
          <p:nvPr/>
        </p:nvCxnSpPr>
        <p:spPr>
          <a:xfrm flipV="1">
            <a:off x="2551294" y="388768"/>
            <a:ext cx="0" cy="4394732"/>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D56834D-A409-78E2-7041-4DA213054C9D}"/>
              </a:ext>
            </a:extLst>
          </p:cNvPr>
          <p:cNvPicPr>
            <a:picLocks noChangeAspect="1"/>
          </p:cNvPicPr>
          <p:nvPr/>
        </p:nvPicPr>
        <p:blipFill>
          <a:blip r:embed="rId3"/>
          <a:stretch>
            <a:fillRect/>
          </a:stretch>
        </p:blipFill>
        <p:spPr>
          <a:xfrm>
            <a:off x="2903783" y="388768"/>
            <a:ext cx="5712994" cy="4365964"/>
          </a:xfrm>
          <a:prstGeom prst="rect">
            <a:avLst/>
          </a:prstGeom>
        </p:spPr>
      </p:pic>
    </p:spTree>
    <p:extLst>
      <p:ext uri="{BB962C8B-B14F-4D97-AF65-F5344CB8AC3E}">
        <p14:creationId xmlns:p14="http://schemas.microsoft.com/office/powerpoint/2010/main" val="2851986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3B222FFE-F1A4-2B41-28A6-0B50BA953F5B}"/>
            </a:ext>
          </a:extLst>
        </p:cNvPr>
        <p:cNvGrpSpPr/>
        <p:nvPr/>
      </p:nvGrpSpPr>
      <p:grpSpPr>
        <a:xfrm>
          <a:off x="0" y="0"/>
          <a:ext cx="0" cy="0"/>
          <a:chOff x="0" y="0"/>
          <a:chExt cx="0" cy="0"/>
        </a:xfrm>
      </p:grpSpPr>
      <p:sp>
        <p:nvSpPr>
          <p:cNvPr id="60" name="Shape 60">
            <a:extLst>
              <a:ext uri="{FF2B5EF4-FFF2-40B4-BE49-F238E27FC236}">
                <a16:creationId xmlns:a16="http://schemas.microsoft.com/office/drawing/2014/main" id="{9D7EA268-9C51-4C02-8B9C-B28AB0ABD040}"/>
              </a:ext>
            </a:extLst>
          </p:cNvPr>
          <p:cNvSpPr txBox="1">
            <a:spLocks noGrp="1"/>
          </p:cNvSpPr>
          <p:nvPr>
            <p:ph type="title"/>
          </p:nvPr>
        </p:nvSpPr>
        <p:spPr>
          <a:prstGeom prst="rect">
            <a:avLst/>
          </a:prstGeom>
        </p:spPr>
        <p:txBody>
          <a:bodyPr spcFirstLastPara="1" wrap="square" lIns="91425" tIns="91425" rIns="91425" bIns="91425" anchor="t" anchorCtr="0">
            <a:noAutofit/>
          </a:bodyPr>
          <a:lstStyle/>
          <a:p>
            <a:pPr lvl="0" algn="ctr"/>
            <a:r>
              <a:rPr lang="en-GB" b="1" dirty="0">
                <a:latin typeface="Raleway"/>
                <a:ea typeface="Raleway"/>
                <a:cs typeface="Raleway"/>
                <a:sym typeface="Raleway"/>
              </a:rPr>
              <a:t>Methodology</a:t>
            </a:r>
            <a:endParaRPr sz="2000" b="1" dirty="0">
              <a:latin typeface="Raleway"/>
              <a:ea typeface="Raleway"/>
              <a:cs typeface="Raleway"/>
              <a:sym typeface="Raleway"/>
            </a:endParaRPr>
          </a:p>
        </p:txBody>
      </p:sp>
      <p:sp>
        <p:nvSpPr>
          <p:cNvPr id="2" name="Text Placeholder 1">
            <a:extLst>
              <a:ext uri="{FF2B5EF4-FFF2-40B4-BE49-F238E27FC236}">
                <a16:creationId xmlns:a16="http://schemas.microsoft.com/office/drawing/2014/main" id="{849C7E18-CD25-D1A6-358B-C891F9DBD0B6}"/>
              </a:ext>
            </a:extLst>
          </p:cNvPr>
          <p:cNvSpPr>
            <a:spLocks noGrp="1"/>
          </p:cNvSpPr>
          <p:nvPr>
            <p:ph type="body" idx="1"/>
          </p:nvPr>
        </p:nvSpPr>
        <p:spPr/>
        <p:txBody>
          <a:bodyPr numCol="1"/>
          <a:lstStyle/>
          <a:p>
            <a:pPr algn="just"/>
            <a:r>
              <a:rPr lang="en-GB" sz="1400" b="1" dirty="0"/>
              <a:t>Dataset:</a:t>
            </a:r>
            <a:r>
              <a:rPr lang="en-GB" sz="1400" dirty="0"/>
              <a:t> Anonymised daily athlete training data consisting of training-specific features</a:t>
            </a:r>
          </a:p>
          <a:p>
            <a:pPr algn="just"/>
            <a:endParaRPr lang="en-GB" sz="1400" dirty="0"/>
          </a:p>
          <a:p>
            <a:pPr algn="just"/>
            <a:r>
              <a:rPr lang="en-GB" sz="1400" b="1" dirty="0"/>
              <a:t>Experimental Setup:</a:t>
            </a:r>
          </a:p>
          <a:p>
            <a:pPr lvl="1" algn="just"/>
            <a:r>
              <a:rPr lang="en-GB" sz="1200" dirty="0"/>
              <a:t>Demographic-specific athlete data</a:t>
            </a:r>
          </a:p>
          <a:p>
            <a:pPr lvl="1" algn="just"/>
            <a:r>
              <a:rPr lang="en-GB" sz="1200" dirty="0"/>
              <a:t>Six datasets of different training block lengths (16 weeks to 6 weeks) [1], and new engineered features, as recommended by [2]</a:t>
            </a:r>
          </a:p>
          <a:p>
            <a:pPr lvl="1" algn="just"/>
            <a:r>
              <a:rPr lang="en-GB" sz="1200" dirty="0"/>
              <a:t>Consistent model architectures as in the reference solution [3]</a:t>
            </a:r>
          </a:p>
          <a:p>
            <a:pPr lvl="1" algn="just"/>
            <a:r>
              <a:rPr lang="en-GB" sz="1200" dirty="0"/>
              <a:t>10-fold cross-validation technique, and repeated experiments, as adopted by [1] and [4], respectively</a:t>
            </a:r>
          </a:p>
          <a:p>
            <a:pPr algn="just"/>
            <a:endParaRPr lang="en-GB" sz="1400" dirty="0"/>
          </a:p>
          <a:p>
            <a:pPr algn="just"/>
            <a:r>
              <a:rPr lang="en-GB" sz="1400" b="1" dirty="0"/>
              <a:t>Data Collection: </a:t>
            </a:r>
            <a:r>
              <a:rPr lang="en-GB" sz="1400" dirty="0"/>
              <a:t>Mean Absolute Error (MAE), Root Mean Squared Error (RMSE), and </a:t>
            </a:r>
            <a:r>
              <a:rPr lang="en-US" sz="1400" dirty="0"/>
              <a:t>R-squared [1, 2, 5, 6]</a:t>
            </a:r>
            <a:endParaRPr lang="en-GB" sz="1400" dirty="0"/>
          </a:p>
        </p:txBody>
      </p:sp>
      <p:cxnSp>
        <p:nvCxnSpPr>
          <p:cNvPr id="5" name="Straight Connector 4">
            <a:extLst>
              <a:ext uri="{FF2B5EF4-FFF2-40B4-BE49-F238E27FC236}">
                <a16:creationId xmlns:a16="http://schemas.microsoft.com/office/drawing/2014/main" id="{8CD6585E-A71C-DE43-CC16-6891CF4338F8}"/>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9618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xfrm>
            <a:off x="311700" y="445025"/>
            <a:ext cx="8520600" cy="98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b="1" dirty="0">
                <a:latin typeface="Raleway"/>
                <a:ea typeface="Raleway"/>
                <a:cs typeface="Raleway"/>
                <a:sym typeface="Raleway"/>
              </a:rPr>
              <a:t>Benchmark Model Results</a:t>
            </a:r>
            <a:endParaRPr sz="2000" b="1" dirty="0">
              <a:latin typeface="Raleway"/>
              <a:ea typeface="Raleway"/>
              <a:cs typeface="Raleway"/>
              <a:sym typeface="Raleway"/>
            </a:endParaRPr>
          </a:p>
        </p:txBody>
      </p:sp>
      <p:cxnSp>
        <p:nvCxnSpPr>
          <p:cNvPr id="5" name="Straight Connector 4">
            <a:extLst>
              <a:ext uri="{FF2B5EF4-FFF2-40B4-BE49-F238E27FC236}">
                <a16:creationId xmlns:a16="http://schemas.microsoft.com/office/drawing/2014/main" id="{EE6088A9-71E6-8549-BEC2-BFBC476C30CA}"/>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 Placeholder 5">
            <a:extLst>
              <a:ext uri="{FF2B5EF4-FFF2-40B4-BE49-F238E27FC236}">
                <a16:creationId xmlns:a16="http://schemas.microsoft.com/office/drawing/2014/main" id="{CC83A401-804E-4E5B-9630-D373582A7E0B}"/>
              </a:ext>
            </a:extLst>
          </p:cNvPr>
          <p:cNvSpPr>
            <a:spLocks noGrp="1"/>
          </p:cNvSpPr>
          <p:nvPr>
            <p:ph type="body" idx="1"/>
          </p:nvPr>
        </p:nvSpPr>
        <p:spPr>
          <a:xfrm>
            <a:off x="316285" y="1176338"/>
            <a:ext cx="8430046" cy="3344411"/>
          </a:xfrm>
        </p:spPr>
        <p:txBody>
          <a:bodyPr/>
          <a:lstStyle/>
          <a:p>
            <a:endParaRPr lang="en-US" sz="1050" dirty="0"/>
          </a:p>
          <a:p>
            <a:pPr marL="114300" indent="0">
              <a:buNone/>
            </a:pPr>
            <a:endParaRPr lang="en-US" sz="1050" dirty="0"/>
          </a:p>
          <a:p>
            <a:pPr lvl="1">
              <a:spcBef>
                <a:spcPts val="0"/>
              </a:spcBef>
            </a:pPr>
            <a:endParaRPr lang="en-US" sz="800" dirty="0"/>
          </a:p>
          <a:p>
            <a:pPr marL="596900" lvl="1" indent="0">
              <a:spcBef>
                <a:spcPts val="0"/>
              </a:spcBef>
              <a:buNone/>
            </a:pPr>
            <a:endParaRPr lang="en-US" sz="800" dirty="0"/>
          </a:p>
          <a:p>
            <a:endParaRPr lang="en-US" sz="800" dirty="0"/>
          </a:p>
        </p:txBody>
      </p:sp>
      <p:graphicFrame>
        <p:nvGraphicFramePr>
          <p:cNvPr id="2" name="Table 1">
            <a:extLst>
              <a:ext uri="{FF2B5EF4-FFF2-40B4-BE49-F238E27FC236}">
                <a16:creationId xmlns:a16="http://schemas.microsoft.com/office/drawing/2014/main" id="{ECC15834-F224-3F58-CF84-B62ADDD003F5}"/>
              </a:ext>
            </a:extLst>
          </p:cNvPr>
          <p:cNvGraphicFramePr>
            <a:graphicFrameLocks noGrp="1"/>
          </p:cNvGraphicFramePr>
          <p:nvPr>
            <p:extLst>
              <p:ext uri="{D42A27DB-BD31-4B8C-83A1-F6EECF244321}">
                <p14:modId xmlns:p14="http://schemas.microsoft.com/office/powerpoint/2010/main" val="4034444422"/>
              </p:ext>
            </p:extLst>
          </p:nvPr>
        </p:nvGraphicFramePr>
        <p:xfrm>
          <a:off x="756516" y="2106863"/>
          <a:ext cx="7644715" cy="1483360"/>
        </p:xfrm>
        <a:graphic>
          <a:graphicData uri="http://schemas.openxmlformats.org/drawingml/2006/table">
            <a:tbl>
              <a:tblPr firstRow="1" bandRow="1">
                <a:tableStyleId>{073A0DAA-6AF3-43AB-8588-CEC1D06C72B9}</a:tableStyleId>
              </a:tblPr>
              <a:tblGrid>
                <a:gridCol w="908416">
                  <a:extLst>
                    <a:ext uri="{9D8B030D-6E8A-4147-A177-3AD203B41FA5}">
                      <a16:colId xmlns:a16="http://schemas.microsoft.com/office/drawing/2014/main" val="4021976425"/>
                    </a:ext>
                  </a:extLst>
                </a:gridCol>
                <a:gridCol w="1631092">
                  <a:extLst>
                    <a:ext uri="{9D8B030D-6E8A-4147-A177-3AD203B41FA5}">
                      <a16:colId xmlns:a16="http://schemas.microsoft.com/office/drawing/2014/main" val="3345559796"/>
                    </a:ext>
                  </a:extLst>
                </a:gridCol>
                <a:gridCol w="1729946">
                  <a:extLst>
                    <a:ext uri="{9D8B030D-6E8A-4147-A177-3AD203B41FA5}">
                      <a16:colId xmlns:a16="http://schemas.microsoft.com/office/drawing/2014/main" val="3717243362"/>
                    </a:ext>
                  </a:extLst>
                </a:gridCol>
                <a:gridCol w="1729946">
                  <a:extLst>
                    <a:ext uri="{9D8B030D-6E8A-4147-A177-3AD203B41FA5}">
                      <a16:colId xmlns:a16="http://schemas.microsoft.com/office/drawing/2014/main" val="1693119483"/>
                    </a:ext>
                  </a:extLst>
                </a:gridCol>
                <a:gridCol w="1645315">
                  <a:extLst>
                    <a:ext uri="{9D8B030D-6E8A-4147-A177-3AD203B41FA5}">
                      <a16:colId xmlns:a16="http://schemas.microsoft.com/office/drawing/2014/main" val="3133263432"/>
                    </a:ext>
                  </a:extLst>
                </a:gridCol>
              </a:tblGrid>
              <a:tr h="370840">
                <a:tc>
                  <a:txBody>
                    <a:bodyPr/>
                    <a:lstStyle/>
                    <a:p>
                      <a:pPr algn="ctr"/>
                      <a:r>
                        <a:rPr lang="en-US" dirty="0"/>
                        <a:t>Weeks</a:t>
                      </a:r>
                      <a:endParaRPr lang="en-MT" dirty="0"/>
                    </a:p>
                  </a:txBody>
                  <a:tcPr/>
                </a:tc>
                <a:tc>
                  <a:txBody>
                    <a:bodyPr/>
                    <a:lstStyle/>
                    <a:p>
                      <a:pPr algn="ctr"/>
                      <a:r>
                        <a:rPr lang="en-US" dirty="0"/>
                        <a:t>Model</a:t>
                      </a:r>
                      <a:endParaRPr lang="en-MT" dirty="0"/>
                    </a:p>
                  </a:txBody>
                  <a:tcPr/>
                </a:tc>
                <a:tc>
                  <a:txBody>
                    <a:bodyPr/>
                    <a:lstStyle/>
                    <a:p>
                      <a:pPr algn="ctr"/>
                      <a:r>
                        <a:rPr lang="en-US" dirty="0"/>
                        <a:t>MAE (mins)</a:t>
                      </a:r>
                      <a:endParaRPr lang="en-MT" dirty="0"/>
                    </a:p>
                  </a:txBody>
                  <a:tcPr/>
                </a:tc>
                <a:tc>
                  <a:txBody>
                    <a:bodyPr/>
                    <a:lstStyle/>
                    <a:p>
                      <a:pPr algn="ctr"/>
                      <a:r>
                        <a:rPr lang="en-US" dirty="0"/>
                        <a:t>RMSE (mins)</a:t>
                      </a:r>
                      <a:endParaRPr lang="en-MT" dirty="0"/>
                    </a:p>
                  </a:txBody>
                  <a:tcPr/>
                </a:tc>
                <a:tc>
                  <a:txBody>
                    <a:bodyPr/>
                    <a:lstStyle/>
                    <a:p>
                      <a:pPr algn="ctr"/>
                      <a:r>
                        <a:rPr lang="en-US" dirty="0"/>
                        <a:t>R-squared Score</a:t>
                      </a:r>
                      <a:endParaRPr lang="en-MT" dirty="0"/>
                    </a:p>
                  </a:txBody>
                  <a:tcPr/>
                </a:tc>
                <a:extLst>
                  <a:ext uri="{0D108BD9-81ED-4DB2-BD59-A6C34878D82A}">
                    <a16:rowId xmlns:a16="http://schemas.microsoft.com/office/drawing/2014/main" val="1547635987"/>
                  </a:ext>
                </a:extLst>
              </a:tr>
              <a:tr h="370840">
                <a:tc rowSpan="3">
                  <a:txBody>
                    <a:bodyPr/>
                    <a:lstStyle/>
                    <a:p>
                      <a:pPr algn="ctr"/>
                      <a:r>
                        <a:rPr lang="en-US" dirty="0"/>
                        <a:t>N/A</a:t>
                      </a:r>
                      <a:endParaRPr lang="en-MT" dirty="0"/>
                    </a:p>
                  </a:txBody>
                  <a:tcPr anchor="ctr"/>
                </a:tc>
                <a:tc>
                  <a:txBody>
                    <a:bodyPr/>
                    <a:lstStyle/>
                    <a:p>
                      <a:pPr algn="ctr"/>
                      <a:r>
                        <a:rPr lang="en-US" dirty="0"/>
                        <a:t>Linear Regression</a:t>
                      </a:r>
                      <a:endParaRPr lang="en-MT" dirty="0"/>
                    </a:p>
                  </a:txBody>
                  <a:tcPr/>
                </a:tc>
                <a:tc>
                  <a:txBody>
                    <a:bodyPr/>
                    <a:lstStyle/>
                    <a:p>
                      <a:pPr algn="ctr"/>
                      <a:r>
                        <a:rPr lang="en-US" dirty="0"/>
                        <a:t>27.98</a:t>
                      </a:r>
                      <a:endParaRPr lang="en-MT" dirty="0"/>
                    </a:p>
                  </a:txBody>
                  <a:tcPr/>
                </a:tc>
                <a:tc>
                  <a:txBody>
                    <a:bodyPr/>
                    <a:lstStyle/>
                    <a:p>
                      <a:pPr algn="ctr"/>
                      <a:r>
                        <a:rPr lang="en-US" dirty="0"/>
                        <a:t>36.76</a:t>
                      </a:r>
                      <a:endParaRPr lang="en-MT" dirty="0"/>
                    </a:p>
                  </a:txBody>
                  <a:tcPr/>
                </a:tc>
                <a:tc>
                  <a:txBody>
                    <a:bodyPr/>
                    <a:lstStyle/>
                    <a:p>
                      <a:pPr algn="ctr"/>
                      <a:r>
                        <a:rPr lang="en-US" dirty="0"/>
                        <a:t>0.47</a:t>
                      </a:r>
                      <a:endParaRPr lang="en-MT" dirty="0"/>
                    </a:p>
                  </a:txBody>
                  <a:tcPr/>
                </a:tc>
                <a:extLst>
                  <a:ext uri="{0D108BD9-81ED-4DB2-BD59-A6C34878D82A}">
                    <a16:rowId xmlns:a16="http://schemas.microsoft.com/office/drawing/2014/main" val="605514787"/>
                  </a:ext>
                </a:extLst>
              </a:tr>
              <a:tr h="370840">
                <a:tc vMerge="1">
                  <a:txBody>
                    <a:bodyPr/>
                    <a:lstStyle/>
                    <a:p>
                      <a:endParaRPr lang="en-MT" dirty="0"/>
                    </a:p>
                  </a:txBody>
                  <a:tcPr/>
                </a:tc>
                <a:tc>
                  <a:txBody>
                    <a:bodyPr/>
                    <a:lstStyle/>
                    <a:p>
                      <a:pPr algn="ctr"/>
                      <a:r>
                        <a:rPr lang="en-US" dirty="0"/>
                        <a:t>Random Forest</a:t>
                      </a:r>
                      <a:endParaRPr lang="en-MT" dirty="0"/>
                    </a:p>
                  </a:txBody>
                  <a:tcPr/>
                </a:tc>
                <a:tc>
                  <a:txBody>
                    <a:bodyPr/>
                    <a:lstStyle/>
                    <a:p>
                      <a:pPr algn="ctr"/>
                      <a:r>
                        <a:rPr lang="en-US" dirty="0"/>
                        <a:t>21.84</a:t>
                      </a:r>
                      <a:endParaRPr lang="en-MT" dirty="0"/>
                    </a:p>
                  </a:txBody>
                  <a:tcPr/>
                </a:tc>
                <a:tc>
                  <a:txBody>
                    <a:bodyPr/>
                    <a:lstStyle/>
                    <a:p>
                      <a:pPr algn="ctr"/>
                      <a:r>
                        <a:rPr lang="en-US" dirty="0"/>
                        <a:t>30.15</a:t>
                      </a:r>
                      <a:endParaRPr lang="en-MT" dirty="0"/>
                    </a:p>
                  </a:txBody>
                  <a:tcPr/>
                </a:tc>
                <a:tc>
                  <a:txBody>
                    <a:bodyPr/>
                    <a:lstStyle/>
                    <a:p>
                      <a:pPr algn="ctr"/>
                      <a:r>
                        <a:rPr lang="en-US" dirty="0"/>
                        <a:t>0.64</a:t>
                      </a:r>
                      <a:endParaRPr lang="en-MT" dirty="0"/>
                    </a:p>
                  </a:txBody>
                  <a:tcPr/>
                </a:tc>
                <a:extLst>
                  <a:ext uri="{0D108BD9-81ED-4DB2-BD59-A6C34878D82A}">
                    <a16:rowId xmlns:a16="http://schemas.microsoft.com/office/drawing/2014/main" val="2734563832"/>
                  </a:ext>
                </a:extLst>
              </a:tr>
              <a:tr h="370840">
                <a:tc vMerge="1">
                  <a:txBody>
                    <a:bodyPr/>
                    <a:lstStyle/>
                    <a:p>
                      <a:endParaRPr lang="en-MT" dirty="0"/>
                    </a:p>
                  </a:txBody>
                  <a:tcPr/>
                </a:tc>
                <a:tc>
                  <a:txBody>
                    <a:bodyPr/>
                    <a:lstStyle/>
                    <a:p>
                      <a:pPr algn="ctr"/>
                      <a:r>
                        <a:rPr lang="en-US" dirty="0"/>
                        <a:t>XGBoost</a:t>
                      </a:r>
                      <a:endParaRPr lang="en-MT" dirty="0"/>
                    </a:p>
                  </a:txBody>
                  <a:tcPr/>
                </a:tc>
                <a:tc>
                  <a:txBody>
                    <a:bodyPr/>
                    <a:lstStyle/>
                    <a:p>
                      <a:pPr algn="ctr"/>
                      <a:r>
                        <a:rPr lang="en-US" dirty="0"/>
                        <a:t>21.39</a:t>
                      </a:r>
                      <a:endParaRPr lang="en-MT" dirty="0"/>
                    </a:p>
                  </a:txBody>
                  <a:tcPr/>
                </a:tc>
                <a:tc>
                  <a:txBody>
                    <a:bodyPr/>
                    <a:lstStyle/>
                    <a:p>
                      <a:pPr algn="ctr"/>
                      <a:r>
                        <a:rPr lang="en-US" dirty="0"/>
                        <a:t>29.68</a:t>
                      </a:r>
                      <a:endParaRPr lang="en-MT" dirty="0"/>
                    </a:p>
                  </a:txBody>
                  <a:tcPr/>
                </a:tc>
                <a:tc>
                  <a:txBody>
                    <a:bodyPr/>
                    <a:lstStyle/>
                    <a:p>
                      <a:pPr algn="ctr"/>
                      <a:r>
                        <a:rPr lang="en-US" dirty="0"/>
                        <a:t>0.65</a:t>
                      </a:r>
                      <a:endParaRPr lang="en-MT" dirty="0"/>
                    </a:p>
                  </a:txBody>
                  <a:tcPr/>
                </a:tc>
                <a:extLst>
                  <a:ext uri="{0D108BD9-81ED-4DB2-BD59-A6C34878D82A}">
                    <a16:rowId xmlns:a16="http://schemas.microsoft.com/office/drawing/2014/main" val="3840799247"/>
                  </a:ext>
                </a:extLst>
              </a:tr>
            </a:tbl>
          </a:graphicData>
        </a:graphic>
      </p:graphicFrame>
    </p:spTree>
    <p:extLst>
      <p:ext uri="{BB962C8B-B14F-4D97-AF65-F5344CB8AC3E}">
        <p14:creationId xmlns:p14="http://schemas.microsoft.com/office/powerpoint/2010/main" val="73567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92B9FD50-8CF9-F4C9-4538-3094426EA90F}"/>
            </a:ext>
          </a:extLst>
        </p:cNvPr>
        <p:cNvGrpSpPr/>
        <p:nvPr/>
      </p:nvGrpSpPr>
      <p:grpSpPr>
        <a:xfrm>
          <a:off x="0" y="0"/>
          <a:ext cx="0" cy="0"/>
          <a:chOff x="0" y="0"/>
          <a:chExt cx="0" cy="0"/>
        </a:xfrm>
      </p:grpSpPr>
      <p:sp>
        <p:nvSpPr>
          <p:cNvPr id="60" name="Shape 60">
            <a:extLst>
              <a:ext uri="{FF2B5EF4-FFF2-40B4-BE49-F238E27FC236}">
                <a16:creationId xmlns:a16="http://schemas.microsoft.com/office/drawing/2014/main" id="{0FF449C1-C188-AE15-328A-A993106C8383}"/>
              </a:ext>
            </a:extLst>
          </p:cNvPr>
          <p:cNvSpPr txBox="1">
            <a:spLocks noGrp="1"/>
          </p:cNvSpPr>
          <p:nvPr>
            <p:ph type="title"/>
          </p:nvPr>
        </p:nvSpPr>
        <p:spPr>
          <a:xfrm>
            <a:off x="311700" y="445025"/>
            <a:ext cx="8520600" cy="98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b="1" dirty="0">
                <a:latin typeface="Raleway"/>
                <a:ea typeface="Raleway"/>
                <a:cs typeface="Raleway"/>
                <a:sym typeface="Raleway"/>
              </a:rPr>
              <a:t>Results &amp; Findings</a:t>
            </a:r>
            <a:endParaRPr sz="2000" b="1" dirty="0">
              <a:latin typeface="Raleway"/>
              <a:ea typeface="Raleway"/>
              <a:cs typeface="Raleway"/>
              <a:sym typeface="Raleway"/>
            </a:endParaRPr>
          </a:p>
        </p:txBody>
      </p:sp>
      <p:cxnSp>
        <p:nvCxnSpPr>
          <p:cNvPr id="5" name="Straight Connector 4">
            <a:extLst>
              <a:ext uri="{FF2B5EF4-FFF2-40B4-BE49-F238E27FC236}">
                <a16:creationId xmlns:a16="http://schemas.microsoft.com/office/drawing/2014/main" id="{37B5BE8D-EA54-8083-10CB-B2B07D92333A}"/>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 Placeholder 5">
            <a:extLst>
              <a:ext uri="{FF2B5EF4-FFF2-40B4-BE49-F238E27FC236}">
                <a16:creationId xmlns:a16="http://schemas.microsoft.com/office/drawing/2014/main" id="{B5EF8A3D-0A62-336F-47EE-013B02FD4B4B}"/>
              </a:ext>
            </a:extLst>
          </p:cNvPr>
          <p:cNvSpPr>
            <a:spLocks noGrp="1"/>
          </p:cNvSpPr>
          <p:nvPr>
            <p:ph type="body" idx="1"/>
          </p:nvPr>
        </p:nvSpPr>
        <p:spPr>
          <a:xfrm>
            <a:off x="316285" y="1176338"/>
            <a:ext cx="8430046" cy="3344411"/>
          </a:xfrm>
        </p:spPr>
        <p:txBody>
          <a:bodyPr/>
          <a:lstStyle/>
          <a:p>
            <a:endParaRPr lang="en-US" sz="1050" dirty="0"/>
          </a:p>
          <a:p>
            <a:pPr marL="114300" indent="0">
              <a:buNone/>
            </a:pPr>
            <a:endParaRPr lang="en-US" sz="1050" dirty="0"/>
          </a:p>
          <a:p>
            <a:pPr lvl="1">
              <a:spcBef>
                <a:spcPts val="0"/>
              </a:spcBef>
            </a:pPr>
            <a:endParaRPr lang="en-US" sz="800" dirty="0"/>
          </a:p>
          <a:p>
            <a:pPr marL="596900" lvl="1" indent="0">
              <a:spcBef>
                <a:spcPts val="0"/>
              </a:spcBef>
              <a:buNone/>
            </a:pPr>
            <a:endParaRPr lang="en-US" sz="800" dirty="0"/>
          </a:p>
          <a:p>
            <a:endParaRPr lang="en-US" sz="800" dirty="0"/>
          </a:p>
        </p:txBody>
      </p:sp>
      <p:pic>
        <p:nvPicPr>
          <p:cNvPr id="3" name="Picture 2">
            <a:extLst>
              <a:ext uri="{FF2B5EF4-FFF2-40B4-BE49-F238E27FC236}">
                <a16:creationId xmlns:a16="http://schemas.microsoft.com/office/drawing/2014/main" id="{DE632143-5080-A7FE-534D-6D8D39BB8BF7}"/>
              </a:ext>
            </a:extLst>
          </p:cNvPr>
          <p:cNvPicPr>
            <a:picLocks noChangeAspect="1"/>
          </p:cNvPicPr>
          <p:nvPr/>
        </p:nvPicPr>
        <p:blipFill>
          <a:blip r:embed="rId3"/>
          <a:stretch>
            <a:fillRect/>
          </a:stretch>
        </p:blipFill>
        <p:spPr>
          <a:xfrm>
            <a:off x="158142" y="1692035"/>
            <a:ext cx="8827715" cy="2563604"/>
          </a:xfrm>
          <a:prstGeom prst="rect">
            <a:avLst/>
          </a:prstGeom>
        </p:spPr>
      </p:pic>
    </p:spTree>
    <p:extLst>
      <p:ext uri="{BB962C8B-B14F-4D97-AF65-F5344CB8AC3E}">
        <p14:creationId xmlns:p14="http://schemas.microsoft.com/office/powerpoint/2010/main" val="939420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C92CB6AC-6CB2-58F4-2642-4897577F0802}"/>
            </a:ext>
          </a:extLst>
        </p:cNvPr>
        <p:cNvGrpSpPr/>
        <p:nvPr/>
      </p:nvGrpSpPr>
      <p:grpSpPr>
        <a:xfrm>
          <a:off x="0" y="0"/>
          <a:ext cx="0" cy="0"/>
          <a:chOff x="0" y="0"/>
          <a:chExt cx="0" cy="0"/>
        </a:xfrm>
      </p:grpSpPr>
      <p:sp>
        <p:nvSpPr>
          <p:cNvPr id="60" name="Shape 60">
            <a:extLst>
              <a:ext uri="{FF2B5EF4-FFF2-40B4-BE49-F238E27FC236}">
                <a16:creationId xmlns:a16="http://schemas.microsoft.com/office/drawing/2014/main" id="{AB41DC85-F9D2-B4B7-E7DB-0650DC802AA9}"/>
              </a:ext>
            </a:extLst>
          </p:cNvPr>
          <p:cNvSpPr txBox="1">
            <a:spLocks noGrp="1"/>
          </p:cNvSpPr>
          <p:nvPr>
            <p:ph type="title"/>
          </p:nvPr>
        </p:nvSpPr>
        <p:spPr>
          <a:xfrm>
            <a:off x="311700" y="445025"/>
            <a:ext cx="8520600" cy="98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b="1" dirty="0">
                <a:latin typeface="Raleway"/>
                <a:ea typeface="Raleway"/>
                <a:cs typeface="Raleway"/>
                <a:sym typeface="Raleway"/>
              </a:rPr>
              <a:t>Conclusions</a:t>
            </a:r>
            <a:endParaRPr sz="2000" b="1" dirty="0">
              <a:latin typeface="Raleway"/>
              <a:ea typeface="Raleway"/>
              <a:cs typeface="Raleway"/>
              <a:sym typeface="Raleway"/>
            </a:endParaRPr>
          </a:p>
        </p:txBody>
      </p:sp>
      <p:cxnSp>
        <p:nvCxnSpPr>
          <p:cNvPr id="5" name="Straight Connector 4">
            <a:extLst>
              <a:ext uri="{FF2B5EF4-FFF2-40B4-BE49-F238E27FC236}">
                <a16:creationId xmlns:a16="http://schemas.microsoft.com/office/drawing/2014/main" id="{7B7C26BD-4994-473D-F89F-4A1380FD4C79}"/>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B1131231-06EF-163E-E726-EE94DE0E3BB7}"/>
              </a:ext>
            </a:extLst>
          </p:cNvPr>
          <p:cNvSpPr>
            <a:spLocks noGrp="1"/>
          </p:cNvSpPr>
          <p:nvPr>
            <p:ph type="body" idx="1"/>
          </p:nvPr>
        </p:nvSpPr>
        <p:spPr/>
        <p:txBody>
          <a:bodyPr/>
          <a:lstStyle/>
          <a:p>
            <a:pPr algn="just"/>
            <a:r>
              <a:rPr lang="en-US" sz="1600" b="1" dirty="0"/>
              <a:t>RQ1:</a:t>
            </a:r>
            <a:r>
              <a:rPr lang="en-US" sz="1600" dirty="0"/>
              <a:t> Which tree-based machine learning regressor obtains the highest predictive performance when forecasting an athlete’s marathon race time?</a:t>
            </a:r>
          </a:p>
          <a:p>
            <a:pPr lvl="1" algn="just"/>
            <a:r>
              <a:rPr lang="en-US" i="1" dirty="0"/>
              <a:t>Random Forest consistently outperformed XGBoost across all time steps</a:t>
            </a:r>
          </a:p>
          <a:p>
            <a:pPr marL="114300" indent="0" algn="just">
              <a:buNone/>
            </a:pPr>
            <a:endParaRPr lang="en-US" dirty="0"/>
          </a:p>
          <a:p>
            <a:pPr algn="just"/>
            <a:r>
              <a:rPr lang="en-US" sz="1600" b="1" dirty="0"/>
              <a:t>RQ2: </a:t>
            </a:r>
            <a:r>
              <a:rPr lang="en-US" sz="1600" dirty="0"/>
              <a:t>To what extent does the amount of weekly historical data affect the predictive accuracy?</a:t>
            </a:r>
          </a:p>
          <a:p>
            <a:pPr lvl="1" algn="just"/>
            <a:r>
              <a:rPr lang="en-US" i="1" dirty="0"/>
              <a:t>Predictive accuracy improved across all timesteps, reaching its peak at Week 6</a:t>
            </a:r>
          </a:p>
          <a:p>
            <a:pPr marL="114300" indent="0" algn="just">
              <a:buNone/>
            </a:pPr>
            <a:endParaRPr lang="en-US" sz="1600" dirty="0"/>
          </a:p>
          <a:p>
            <a:pPr algn="just"/>
            <a:r>
              <a:rPr lang="en-US" sz="1600" b="1" dirty="0"/>
              <a:t>Hypothesis:</a:t>
            </a:r>
            <a:r>
              <a:rPr lang="en-US" sz="1600" dirty="0"/>
              <a:t> The original hypothesis was rejected, proving the contrary, with Random Forest being the superior model, achieving the best predictive performance at Week 6.</a:t>
            </a:r>
            <a:endParaRPr lang="en-US" sz="1600" b="1" dirty="0"/>
          </a:p>
        </p:txBody>
      </p:sp>
    </p:spTree>
    <p:extLst>
      <p:ext uri="{BB962C8B-B14F-4D97-AF65-F5344CB8AC3E}">
        <p14:creationId xmlns:p14="http://schemas.microsoft.com/office/powerpoint/2010/main" val="3017532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F68931D7-53A5-9820-A65D-25AC55241EB7}"/>
            </a:ext>
          </a:extLst>
        </p:cNvPr>
        <p:cNvGrpSpPr/>
        <p:nvPr/>
      </p:nvGrpSpPr>
      <p:grpSpPr>
        <a:xfrm>
          <a:off x="0" y="0"/>
          <a:ext cx="0" cy="0"/>
          <a:chOff x="0" y="0"/>
          <a:chExt cx="0" cy="0"/>
        </a:xfrm>
      </p:grpSpPr>
      <p:sp>
        <p:nvSpPr>
          <p:cNvPr id="60" name="Shape 60">
            <a:extLst>
              <a:ext uri="{FF2B5EF4-FFF2-40B4-BE49-F238E27FC236}">
                <a16:creationId xmlns:a16="http://schemas.microsoft.com/office/drawing/2014/main" id="{E1577A92-ED70-428E-07BD-3C55BD3984F4}"/>
              </a:ext>
            </a:extLst>
          </p:cNvPr>
          <p:cNvSpPr txBox="1">
            <a:spLocks noGrp="1"/>
          </p:cNvSpPr>
          <p:nvPr>
            <p:ph type="title"/>
          </p:nvPr>
        </p:nvSpPr>
        <p:spPr>
          <a:xfrm>
            <a:off x="311700" y="445025"/>
            <a:ext cx="8520600" cy="98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b="1" dirty="0">
                <a:latin typeface="Raleway"/>
                <a:ea typeface="Raleway"/>
                <a:cs typeface="Raleway"/>
                <a:sym typeface="Raleway"/>
              </a:rPr>
              <a:t>Limitations &amp; Future Work</a:t>
            </a:r>
            <a:endParaRPr sz="2000" b="1" dirty="0">
              <a:latin typeface="Raleway"/>
              <a:ea typeface="Raleway"/>
              <a:cs typeface="Raleway"/>
              <a:sym typeface="Raleway"/>
            </a:endParaRPr>
          </a:p>
        </p:txBody>
      </p:sp>
      <p:cxnSp>
        <p:nvCxnSpPr>
          <p:cNvPr id="5" name="Straight Connector 4">
            <a:extLst>
              <a:ext uri="{FF2B5EF4-FFF2-40B4-BE49-F238E27FC236}">
                <a16:creationId xmlns:a16="http://schemas.microsoft.com/office/drawing/2014/main" id="{8D30B9B6-0B73-4566-9ECC-1E7AE9ADFAF4}"/>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56C22841-CF74-B0FB-4EF3-33B3F121D9EB}"/>
              </a:ext>
            </a:extLst>
          </p:cNvPr>
          <p:cNvSpPr>
            <a:spLocks noGrp="1"/>
          </p:cNvSpPr>
          <p:nvPr>
            <p:ph type="body" idx="1"/>
          </p:nvPr>
        </p:nvSpPr>
        <p:spPr/>
        <p:txBody>
          <a:bodyPr/>
          <a:lstStyle/>
          <a:p>
            <a:pPr algn="just"/>
            <a:r>
              <a:rPr lang="en-US" sz="1600" b="1" dirty="0"/>
              <a:t>Limitations:</a:t>
            </a:r>
          </a:p>
          <a:p>
            <a:pPr lvl="1" algn="just"/>
            <a:r>
              <a:rPr lang="en-US" sz="1200" dirty="0"/>
              <a:t>Data availability</a:t>
            </a:r>
          </a:p>
          <a:p>
            <a:pPr lvl="1" algn="just"/>
            <a:r>
              <a:rPr lang="en-US" sz="1200" dirty="0"/>
              <a:t>Generalizability</a:t>
            </a:r>
          </a:p>
          <a:p>
            <a:pPr algn="just"/>
            <a:endParaRPr lang="en-US" sz="1600" dirty="0"/>
          </a:p>
          <a:p>
            <a:pPr algn="just"/>
            <a:r>
              <a:rPr lang="en-US" sz="1600" b="1" dirty="0"/>
              <a:t>Future Work:</a:t>
            </a:r>
          </a:p>
          <a:p>
            <a:pPr lvl="1" algn="just"/>
            <a:r>
              <a:rPr lang="en-US" sz="1200" dirty="0"/>
              <a:t>Explore other demographic groups</a:t>
            </a:r>
          </a:p>
          <a:p>
            <a:pPr lvl="1" algn="just"/>
            <a:r>
              <a:rPr lang="en-US" sz="1200" dirty="0"/>
              <a:t>Hyperparameter tuning</a:t>
            </a:r>
          </a:p>
          <a:p>
            <a:pPr lvl="1" algn="just"/>
            <a:r>
              <a:rPr lang="en-US" sz="1200" dirty="0"/>
              <a:t>Utilization of other tree-based machine learning regressors</a:t>
            </a:r>
          </a:p>
          <a:p>
            <a:endParaRPr lang="en-US" sz="1600" dirty="0"/>
          </a:p>
          <a:p>
            <a:endParaRPr lang="en-US" dirty="0"/>
          </a:p>
        </p:txBody>
      </p:sp>
    </p:spTree>
    <p:extLst>
      <p:ext uri="{BB962C8B-B14F-4D97-AF65-F5344CB8AC3E}">
        <p14:creationId xmlns:p14="http://schemas.microsoft.com/office/powerpoint/2010/main" val="2803103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xfrm>
            <a:off x="311700" y="445025"/>
            <a:ext cx="8520600" cy="981900"/>
          </a:xfrm>
          <a:prstGeom prst="rect">
            <a:avLst/>
          </a:prstGeom>
        </p:spPr>
        <p:txBody>
          <a:bodyPr spcFirstLastPara="1" wrap="square" lIns="91425" tIns="91425" rIns="91425" bIns="91425" anchor="t" anchorCtr="0">
            <a:noAutofit/>
          </a:bodyPr>
          <a:lstStyle/>
          <a:p>
            <a:pPr lvl="0" algn="ctr"/>
            <a:r>
              <a:rPr lang="en-GB" b="1" dirty="0">
                <a:latin typeface="Raleway"/>
                <a:ea typeface="Raleway"/>
                <a:cs typeface="Raleway"/>
                <a:sym typeface="Raleway"/>
              </a:rPr>
              <a:t>References</a:t>
            </a:r>
            <a:endParaRPr sz="2000" b="1" dirty="0">
              <a:latin typeface="Raleway"/>
              <a:ea typeface="Raleway"/>
              <a:cs typeface="Raleway"/>
              <a:sym typeface="Raleway"/>
            </a:endParaRPr>
          </a:p>
        </p:txBody>
      </p:sp>
      <p:cxnSp>
        <p:nvCxnSpPr>
          <p:cNvPr id="5" name="Straight Connector 4">
            <a:extLst>
              <a:ext uri="{FF2B5EF4-FFF2-40B4-BE49-F238E27FC236}">
                <a16:creationId xmlns:a16="http://schemas.microsoft.com/office/drawing/2014/main" id="{EE6088A9-71E6-8549-BEC2-BFBC476C30CA}"/>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ext Placeholder 5">
            <a:extLst>
              <a:ext uri="{FF2B5EF4-FFF2-40B4-BE49-F238E27FC236}">
                <a16:creationId xmlns:a16="http://schemas.microsoft.com/office/drawing/2014/main" id="{3EB4467E-1451-F45D-4472-6C2B5E238E4A}"/>
              </a:ext>
            </a:extLst>
          </p:cNvPr>
          <p:cNvSpPr>
            <a:spLocks noGrp="1"/>
          </p:cNvSpPr>
          <p:nvPr>
            <p:ph type="body" idx="1"/>
          </p:nvPr>
        </p:nvSpPr>
        <p:spPr>
          <a:xfrm>
            <a:off x="316285" y="1176338"/>
            <a:ext cx="8430046" cy="3344411"/>
          </a:xfrm>
        </p:spPr>
        <p:txBody>
          <a:bodyPr/>
          <a:lstStyle/>
          <a:p>
            <a:pPr marL="114300" indent="0" algn="just">
              <a:buNone/>
            </a:pPr>
            <a:r>
              <a:rPr lang="en-US" sz="1000" dirty="0"/>
              <a:t>[1] D. Ruiz-Mayo, E. Pulido, and G. </a:t>
            </a:r>
            <a:r>
              <a:rPr lang="en-US" sz="1000" dirty="0" err="1"/>
              <a:t>Martınez</a:t>
            </a:r>
            <a:r>
              <a:rPr lang="en-US" sz="1000" dirty="0"/>
              <a:t>-Munoz, “Marathon Performance Prediction of Amateur Runners based on Training Session Data.”</a:t>
            </a:r>
          </a:p>
          <a:p>
            <a:pPr marL="114300" indent="0" algn="just">
              <a:buNone/>
            </a:pPr>
            <a:endParaRPr lang="en-US" sz="1000" dirty="0"/>
          </a:p>
          <a:p>
            <a:pPr marL="114300" indent="0" algn="just">
              <a:buNone/>
            </a:pPr>
            <a:r>
              <a:rPr lang="en-US" sz="1000" dirty="0"/>
              <a:t>[2] C. Feely, B. Caulfield, A. Lawlor, and B. Smyth, “Providing Explainable Race-Time Predictions and Training Plan Recommendations to Marathon Runners,” in Fourteenth ACM Conference on Recommender Systems. Virtual Event Brazil: ACM, Sep. 2020, pp. 539–544. [Online]. Available: </a:t>
            </a:r>
            <a:r>
              <a:rPr lang="en-US" sz="1000" dirty="0">
                <a:hlinkClick r:id="rId3"/>
              </a:rPr>
              <a:t>https://dl.acm.org/doi/10.1145/3383313.3412220</a:t>
            </a:r>
            <a:endParaRPr lang="en-US" sz="1000" dirty="0"/>
          </a:p>
          <a:p>
            <a:pPr marL="114300" indent="0" algn="just">
              <a:buNone/>
            </a:pPr>
            <a:endParaRPr lang="en-US" sz="1000" dirty="0"/>
          </a:p>
          <a:p>
            <a:pPr marL="114300" indent="0" algn="just">
              <a:buNone/>
            </a:pPr>
            <a:r>
              <a:rPr lang="en-US" sz="1000" dirty="0"/>
              <a:t>[3] </a:t>
            </a:r>
            <a:r>
              <a:rPr lang="en-US" sz="1000" dirty="0" err="1"/>
              <a:t>zuskakluska</a:t>
            </a:r>
            <a:r>
              <a:rPr lang="en-US" sz="1000" dirty="0"/>
              <a:t>, “Intelligent marathon race predictions,” https://www. kaggle.com/code/</a:t>
            </a:r>
            <a:r>
              <a:rPr lang="en-US" sz="1000" dirty="0" err="1"/>
              <a:t>zuskakluska</a:t>
            </a:r>
            <a:r>
              <a:rPr lang="en-US" sz="1000" dirty="0"/>
              <a:t>/intelligent-marathon-race-predictions, 2025, [Online; accessed 11-April-2026].</a:t>
            </a:r>
          </a:p>
          <a:p>
            <a:pPr marL="114300" indent="0" algn="just">
              <a:buNone/>
            </a:pPr>
            <a:endParaRPr lang="en-US" sz="1000" dirty="0"/>
          </a:p>
          <a:p>
            <a:pPr marL="114300" indent="0" algn="just">
              <a:buNone/>
            </a:pPr>
            <a:r>
              <a:rPr lang="en-US" sz="1000" dirty="0"/>
              <a:t>[4] S. Dash, “Win Your Race Goal: A Generalized Approach to Prediction of Running Performance,” Sports Medicine International Open, vol. 08, no. CP, pp. a–2401–6234, Oct. 2024. [Online]. Available: </a:t>
            </a:r>
            <a:r>
              <a:rPr lang="en-US" sz="1000" dirty="0">
                <a:hlinkClick r:id="rId4"/>
              </a:rPr>
              <a:t>http://www.thieme-connect.de/DOI/DOI?10.1055/a-2401-6234</a:t>
            </a:r>
            <a:endParaRPr lang="en-US" sz="1000" dirty="0"/>
          </a:p>
          <a:p>
            <a:pPr marL="114300" indent="0" algn="just">
              <a:buNone/>
            </a:pPr>
            <a:endParaRPr lang="en-US" sz="1000" dirty="0"/>
          </a:p>
          <a:p>
            <a:pPr marL="114300" indent="0" algn="just">
              <a:buNone/>
            </a:pPr>
            <a:r>
              <a:rPr lang="en-US" sz="1000" dirty="0"/>
              <a:t>[5] L. Lerebourg, D. </a:t>
            </a:r>
            <a:r>
              <a:rPr lang="en-US" sz="1000" dirty="0" err="1"/>
              <a:t>Saboul</a:t>
            </a:r>
            <a:r>
              <a:rPr lang="en-US" sz="1000" dirty="0"/>
              <a:t>, M. </a:t>
            </a:r>
            <a:r>
              <a:rPr lang="en-US" sz="1000" dirty="0" err="1"/>
              <a:t>Cl´emenc¸on</a:t>
            </a:r>
            <a:r>
              <a:rPr lang="en-US" sz="1000" dirty="0"/>
              <a:t>, and J. B. </a:t>
            </a:r>
            <a:r>
              <a:rPr lang="en-US" sz="1000" dirty="0" err="1"/>
              <a:t>Coquart</a:t>
            </a:r>
            <a:r>
              <a:rPr lang="en-US" sz="1000" dirty="0"/>
              <a:t>, “Prediction of Marathon Performance using Artificial Intelligence,” International Journal of Sports Medicine, vol. 44, no. 05, pp. 352–360, May 2023. [Online]. Available: http://www.thieme-connect.de/DOI/DOI?10.1055/ a-1993-2371</a:t>
            </a:r>
          </a:p>
          <a:p>
            <a:pPr marL="114300" indent="0" algn="just">
              <a:buNone/>
            </a:pPr>
            <a:endParaRPr lang="en-US" sz="1000" dirty="0"/>
          </a:p>
          <a:p>
            <a:pPr marL="114300" indent="0" algn="just">
              <a:buNone/>
            </a:pPr>
            <a:r>
              <a:rPr lang="en-US" sz="1000" dirty="0"/>
              <a:t>[6] H. T. El-Kassabi, K. Khalil, and M. A. </a:t>
            </a:r>
            <a:r>
              <a:rPr lang="en-US" sz="1000" dirty="0" err="1"/>
              <a:t>Serhani</a:t>
            </a:r>
            <a:r>
              <a:rPr lang="en-US" sz="1000" dirty="0"/>
              <a:t>, “Deep Learning Approach for Forecasting Athletes’ Performance in Sports Tournaments,” in Proceedings of the 13th International Conference on Intelligent Systems: Theories and Applications. Rabat Morocco: ACM, Sep. 2020, pp. 1–6. [Online]. Available: https://dl.acm.org/doi/10.1145/3419604.3419786</a:t>
            </a:r>
          </a:p>
          <a:p>
            <a:pPr marL="114300" indent="0">
              <a:buNone/>
            </a:pPr>
            <a:endParaRPr lang="en-US" sz="1050" dirty="0"/>
          </a:p>
          <a:p>
            <a:pPr marL="114300" indent="0">
              <a:buNone/>
            </a:pPr>
            <a:endParaRPr lang="en-US" sz="1050" dirty="0"/>
          </a:p>
          <a:p>
            <a:pPr marL="114300" indent="0">
              <a:buNone/>
            </a:pPr>
            <a:endParaRPr lang="en-US" sz="1050" dirty="0"/>
          </a:p>
          <a:p>
            <a:pPr lvl="1">
              <a:spcBef>
                <a:spcPts val="0"/>
              </a:spcBef>
            </a:pPr>
            <a:endParaRPr lang="en-US" sz="800" dirty="0"/>
          </a:p>
          <a:p>
            <a:pPr marL="596900" lvl="1" indent="0">
              <a:spcBef>
                <a:spcPts val="0"/>
              </a:spcBef>
              <a:buNone/>
            </a:pPr>
            <a:endParaRPr lang="en-US" sz="800" dirty="0"/>
          </a:p>
          <a:p>
            <a:endParaRPr lang="en-US" sz="800" dirty="0"/>
          </a:p>
        </p:txBody>
      </p:sp>
    </p:spTree>
    <p:extLst>
      <p:ext uri="{BB962C8B-B14F-4D97-AF65-F5344CB8AC3E}">
        <p14:creationId xmlns:p14="http://schemas.microsoft.com/office/powerpoint/2010/main" val="1793795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0316E-7EDB-6341-901B-EA548A0F0CE2}"/>
              </a:ext>
            </a:extLst>
          </p:cNvPr>
          <p:cNvSpPr>
            <a:spLocks noGrp="1"/>
          </p:cNvSpPr>
          <p:nvPr>
            <p:ph type="title"/>
          </p:nvPr>
        </p:nvSpPr>
        <p:spPr>
          <a:xfrm>
            <a:off x="311700" y="2150849"/>
            <a:ext cx="8520600" cy="1294715"/>
          </a:xfrm>
        </p:spPr>
        <p:txBody>
          <a:bodyPr/>
          <a:lstStyle/>
          <a:p>
            <a:r>
              <a:rPr lang="en-US" b="1" dirty="0">
                <a:latin typeface="Raleway" panose="020B0604020202020204" charset="0"/>
              </a:rPr>
              <a:t>Thank you</a:t>
            </a:r>
            <a:br>
              <a:rPr lang="en-US" dirty="0"/>
            </a:br>
            <a:br>
              <a:rPr lang="en-US" sz="800" dirty="0"/>
            </a:br>
            <a:r>
              <a:rPr lang="en-US" sz="2000" dirty="0"/>
              <a:t>Miguel Abela, Daren Scerri</a:t>
            </a:r>
            <a:endParaRPr lang="en-US" dirty="0"/>
          </a:p>
        </p:txBody>
      </p:sp>
      <p:cxnSp>
        <p:nvCxnSpPr>
          <p:cNvPr id="3" name="Straight Connector 2">
            <a:extLst>
              <a:ext uri="{FF2B5EF4-FFF2-40B4-BE49-F238E27FC236}">
                <a16:creationId xmlns:a16="http://schemas.microsoft.com/office/drawing/2014/main" id="{5E3DAA63-4D00-0147-B9CF-24027D8A2FAF}"/>
              </a:ext>
            </a:extLst>
          </p:cNvPr>
          <p:cNvCxnSpPr/>
          <p:nvPr/>
        </p:nvCxnSpPr>
        <p:spPr>
          <a:xfrm>
            <a:off x="112644" y="2939288"/>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 name="Picture 5" descr="Shape&#10;&#10;Description automatically generated with medium confidence">
            <a:extLst>
              <a:ext uri="{FF2B5EF4-FFF2-40B4-BE49-F238E27FC236}">
                <a16:creationId xmlns:a16="http://schemas.microsoft.com/office/drawing/2014/main" id="{59AEA123-F6BA-4DF5-9223-7478E8C81015}"/>
              </a:ext>
            </a:extLst>
          </p:cNvPr>
          <p:cNvPicPr>
            <a:picLocks noChangeAspect="1"/>
          </p:cNvPicPr>
          <p:nvPr/>
        </p:nvPicPr>
        <p:blipFill>
          <a:blip r:embed="rId3"/>
          <a:stretch>
            <a:fillRect/>
          </a:stretch>
        </p:blipFill>
        <p:spPr>
          <a:xfrm>
            <a:off x="2581742" y="3538134"/>
            <a:ext cx="3980515" cy="1391738"/>
          </a:xfrm>
          <a:prstGeom prst="rect">
            <a:avLst/>
          </a:prstGeom>
        </p:spPr>
      </p:pic>
    </p:spTree>
    <p:extLst>
      <p:ext uri="{BB962C8B-B14F-4D97-AF65-F5344CB8AC3E}">
        <p14:creationId xmlns:p14="http://schemas.microsoft.com/office/powerpoint/2010/main" val="279369413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B9C9BAE85AC824696340B84EAE46327" ma:contentTypeVersion="11" ma:contentTypeDescription="Create a new document." ma:contentTypeScope="" ma:versionID="91c83a4d36b47cc159eeda212718ddf0">
  <xsd:schema xmlns:xsd="http://www.w3.org/2001/XMLSchema" xmlns:xs="http://www.w3.org/2001/XMLSchema" xmlns:p="http://schemas.microsoft.com/office/2006/metadata/properties" xmlns:ns2="d17de636-3a20-4426-b1f0-60844d1a7157" xmlns:ns3="10616529-6cb0-43d7-b865-4daf29c215d1" targetNamespace="http://schemas.microsoft.com/office/2006/metadata/properties" ma:root="true" ma:fieldsID="13275efd5248ad822b5e77de4a07ba8d" ns2:_="" ns3:_="">
    <xsd:import namespace="d17de636-3a20-4426-b1f0-60844d1a7157"/>
    <xsd:import namespace="10616529-6cb0-43d7-b865-4daf29c215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7de636-3a20-4426-b1f0-60844d1a715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2918eac-b98b-469d-b8dc-95a04dc6b27e"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0616529-6cb0-43d7-b865-4daf29c215d1"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e20ab9d1-06af-43b9-afbb-b6bc8d8b69e8}" ma:internalName="TaxCatchAll" ma:showField="CatchAllData" ma:web="10616529-6cb0-43d7-b865-4daf29c215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17de636-3a20-4426-b1f0-60844d1a7157">
      <Terms xmlns="http://schemas.microsoft.com/office/infopath/2007/PartnerControls"/>
    </lcf76f155ced4ddcb4097134ff3c332f>
    <TaxCatchAll xmlns="10616529-6cb0-43d7-b865-4daf29c215d1" xsi:nil="true"/>
  </documentManagement>
</p:properties>
</file>

<file path=customXml/itemProps1.xml><?xml version="1.0" encoding="utf-8"?>
<ds:datastoreItem xmlns:ds="http://schemas.openxmlformats.org/officeDocument/2006/customXml" ds:itemID="{78727EC3-027E-415E-8E65-39AD5268606C}">
  <ds:schemaRefs>
    <ds:schemaRef ds:uri="http://schemas.microsoft.com/sharepoint/v3/contenttype/forms"/>
  </ds:schemaRefs>
</ds:datastoreItem>
</file>

<file path=customXml/itemProps2.xml><?xml version="1.0" encoding="utf-8"?>
<ds:datastoreItem xmlns:ds="http://schemas.openxmlformats.org/officeDocument/2006/customXml" ds:itemID="{790FCD54-7BE1-4DF4-80C3-33338D5271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7de636-3a20-4426-b1f0-60844d1a7157"/>
    <ds:schemaRef ds:uri="10616529-6cb0-43d7-b865-4daf29c215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3CE82D3-3DAB-415F-ABBA-4A99DAAF7228}">
  <ds:schemaRefs>
    <ds:schemaRef ds:uri="http://schemas.microsoft.com/office/2006/metadata/properties"/>
    <ds:schemaRef ds:uri="http://schemas.microsoft.com/office/infopath/2007/PartnerControls"/>
    <ds:schemaRef ds:uri="d17de636-3a20-4426-b1f0-60844d1a7157"/>
    <ds:schemaRef ds:uri="10616529-6cb0-43d7-b865-4daf29c215d1"/>
  </ds:schemaRefs>
</ds:datastoreItem>
</file>

<file path=docProps/app.xml><?xml version="1.0" encoding="utf-8"?>
<Properties xmlns="http://schemas.openxmlformats.org/officeDocument/2006/extended-properties" xmlns:vt="http://schemas.openxmlformats.org/officeDocument/2006/docPropsVTypes">
  <TotalTime>2488</TotalTime>
  <Words>1430</Words>
  <Application>Microsoft Office PowerPoint</Application>
  <PresentationFormat>On-screen Show (16:9)</PresentationFormat>
  <Paragraphs>115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Raleway</vt:lpstr>
      <vt:lpstr>Arial</vt:lpstr>
      <vt:lpstr>Lato</vt:lpstr>
      <vt:lpstr>Simple Light</vt:lpstr>
      <vt:lpstr>Tree-Based Machine Learning Regression Models for Predicting  Marathon Race Times</vt:lpstr>
      <vt:lpstr>Background, Hypothesis &amp; Questions</vt:lpstr>
      <vt:lpstr>Methodological Framework</vt:lpstr>
      <vt:lpstr>Research Pipeline </vt:lpstr>
      <vt:lpstr>Methodology</vt:lpstr>
      <vt:lpstr>Benchmark Model Results</vt:lpstr>
      <vt:lpstr>Results &amp; Findings</vt:lpstr>
      <vt:lpstr>Conclusions</vt:lpstr>
      <vt:lpstr>Limitations &amp; Future Work</vt:lpstr>
      <vt:lpstr>References</vt:lpstr>
      <vt:lpstr>Thank you  Miguel Abela, Daren Scerri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cp:lastModifiedBy>Miguel Abela</cp:lastModifiedBy>
  <cp:revision>193</cp:revision>
  <dcterms:modified xsi:type="dcterms:W3CDTF">2026-05-10T12:28:27Z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0x0101008B9C9BAE85AC824696340B84EAE46327</vt:lpwstr>
  </property>
</Properties>
</file>