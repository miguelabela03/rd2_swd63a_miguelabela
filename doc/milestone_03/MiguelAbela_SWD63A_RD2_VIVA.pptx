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4"/>
  </p:sldMasterIdLst>
  <p:notesMasterIdLst>
    <p:notesMasterId r:id="rId15"/>
  </p:notesMasterIdLst>
  <p:sldIdLst>
    <p:sldId id="256" r:id="rId5"/>
    <p:sldId id="281" r:id="rId6"/>
    <p:sldId id="287" r:id="rId7"/>
    <p:sldId id="308" r:id="rId8"/>
    <p:sldId id="309" r:id="rId9"/>
    <p:sldId id="294" r:id="rId10"/>
    <p:sldId id="310" r:id="rId11"/>
    <p:sldId id="311" r:id="rId12"/>
    <p:sldId id="307" r:id="rId13"/>
    <p:sldId id="271" r:id="rId14"/>
  </p:sldIdLst>
  <p:sldSz cx="9144000" cy="5143500" type="screen16x9"/>
  <p:notesSz cx="6858000" cy="9144000"/>
  <p:embeddedFontLst>
    <p:embeddedFont>
      <p:font typeface="Lato" panose="020F0502020204030203" pitchFamily="34" charset="0"/>
      <p:regular r:id="rId16"/>
      <p:bold r:id="rId17"/>
      <p:italic r:id="rId18"/>
      <p:boldItalic r:id="rId19"/>
    </p:embeddedFont>
    <p:embeddedFont>
      <p:font typeface="Raleway" pitchFamily="2"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69" autoAdjust="0"/>
    <p:restoredTop sz="79766" autoAdjust="0"/>
  </p:normalViewPr>
  <p:slideViewPr>
    <p:cSldViewPr snapToGrid="0">
      <p:cViewPr varScale="1">
        <p:scale>
          <a:sx n="116" d="100"/>
          <a:sy n="116" d="100"/>
        </p:scale>
        <p:origin x="1668" y="10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en Scerri" userId="55cb7fc9-28b9-4724-a249-160cf577d75d" providerId="ADAL" clId="{C3DD8F9E-32A3-4C34-B681-DF2A224A38DD}"/>
    <pc:docChg chg="delSld modSld">
      <pc:chgData name="Daren Scerri" userId="55cb7fc9-28b9-4724-a249-160cf577d75d" providerId="ADAL" clId="{C3DD8F9E-32A3-4C34-B681-DF2A224A38DD}" dt="2026-04-30T10:24:28.597" v="15" actId="47"/>
      <pc:docMkLst>
        <pc:docMk/>
      </pc:docMkLst>
      <pc:sldChg chg="del">
        <pc:chgData name="Daren Scerri" userId="55cb7fc9-28b9-4724-a249-160cf577d75d" providerId="ADAL" clId="{C3DD8F9E-32A3-4C34-B681-DF2A224A38DD}" dt="2026-04-30T10:23:52.196" v="12" actId="47"/>
        <pc:sldMkLst>
          <pc:docMk/>
          <pc:sldMk cId="0" sldId="257"/>
        </pc:sldMkLst>
      </pc:sldChg>
      <pc:sldChg chg="modSp mod">
        <pc:chgData name="Daren Scerri" userId="55cb7fc9-28b9-4724-a249-160cf577d75d" providerId="ADAL" clId="{C3DD8F9E-32A3-4C34-B681-DF2A224A38DD}" dt="2026-04-30T10:23:46.367" v="11" actId="20577"/>
        <pc:sldMkLst>
          <pc:docMk/>
          <pc:sldMk cId="1491059069" sldId="281"/>
        </pc:sldMkLst>
        <pc:spChg chg="mod">
          <ac:chgData name="Daren Scerri" userId="55cb7fc9-28b9-4724-a249-160cf577d75d" providerId="ADAL" clId="{C3DD8F9E-32A3-4C34-B681-DF2A224A38DD}" dt="2026-04-30T10:23:46.367" v="11" actId="20577"/>
          <ac:spMkLst>
            <pc:docMk/>
            <pc:sldMk cId="1491059069" sldId="281"/>
            <ac:spMk id="60" creationId="{00000000-0000-0000-0000-000000000000}"/>
          </ac:spMkLst>
        </pc:spChg>
      </pc:sldChg>
      <pc:sldChg chg="del">
        <pc:chgData name="Daren Scerri" userId="55cb7fc9-28b9-4724-a249-160cf577d75d" providerId="ADAL" clId="{C3DD8F9E-32A3-4C34-B681-DF2A224A38DD}" dt="2026-04-30T10:23:54.909" v="13" actId="47"/>
        <pc:sldMkLst>
          <pc:docMk/>
          <pc:sldMk cId="1722448282" sldId="282"/>
        </pc:sldMkLst>
      </pc:sldChg>
      <pc:sldChg chg="del">
        <pc:chgData name="Daren Scerri" userId="55cb7fc9-28b9-4724-a249-160cf577d75d" providerId="ADAL" clId="{C3DD8F9E-32A3-4C34-B681-DF2A224A38DD}" dt="2026-04-30T10:24:16.341" v="14" actId="47"/>
        <pc:sldMkLst>
          <pc:docMk/>
          <pc:sldMk cId="4147663647" sldId="292"/>
        </pc:sldMkLst>
      </pc:sldChg>
      <pc:sldChg chg="del">
        <pc:chgData name="Daren Scerri" userId="55cb7fc9-28b9-4724-a249-160cf577d75d" providerId="ADAL" clId="{C3DD8F9E-32A3-4C34-B681-DF2A224A38DD}" dt="2026-04-30T10:24:28.597" v="15" actId="47"/>
        <pc:sldMkLst>
          <pc:docMk/>
          <pc:sldMk cId="3603874867" sldId="29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381300" y="685800"/>
            <a:ext cx="609607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Shape 4"/>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Shape 5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2" name="Shape 52"/>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lvl="0" indent="0">
              <a:buNone/>
            </a:pPr>
            <a:r>
              <a:rPr lang="en-US" sz="1100" b="0" i="0" u="none" strike="noStrike" cap="none" dirty="0">
                <a:solidFill>
                  <a:srgbClr val="000000"/>
                </a:solidFill>
                <a:effectLst/>
                <a:latin typeface="Arial"/>
                <a:cs typeface="Arial"/>
                <a:sym typeface="Arial"/>
              </a:rPr>
              <a:t>In recent years, marathon running has increased in popularity, making technology and predictive algorithms staples of training and race day. Yet, such algorithms remain highly challenging to develop.</a:t>
            </a:r>
          </a:p>
          <a:p>
            <a:pPr marL="158750" lvl="0" indent="0">
              <a:buNone/>
            </a:pPr>
            <a:endParaRPr lang="en-US" sz="1100" b="0" i="0" u="none" strike="noStrike" cap="none" dirty="0">
              <a:solidFill>
                <a:srgbClr val="000000"/>
              </a:solidFill>
              <a:effectLst/>
              <a:latin typeface="Arial"/>
              <a:cs typeface="Arial"/>
              <a:sym typeface="Arial"/>
            </a:endParaRPr>
          </a:p>
          <a:p>
            <a:pPr marL="158750" lvl="0" indent="0">
              <a:buNone/>
            </a:pPr>
            <a:r>
              <a:rPr lang="en-US" b="0" dirty="0"/>
              <a:t>This led to an experimental study in which it is hypothesized that XGBoost will achieve better predictive performance than Random Forest, specifically when using 16 weeks of aggregated training data. To address this hypothesis, the following research questions were formulated to establish a superior model by assessing the effects of time frame-reduced datasets.</a:t>
            </a:r>
            <a:endParaRPr b="0" dirty="0"/>
          </a:p>
        </p:txBody>
      </p:sp>
    </p:spTree>
    <p:extLst>
      <p:ext uri="{BB962C8B-B14F-4D97-AF65-F5344CB8AC3E}">
        <p14:creationId xmlns:p14="http://schemas.microsoft.com/office/powerpoint/2010/main" val="37614394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In view of the hypothesis and research questions, this study adopted a positivist philosophy, driving a deductive approach, and executed via a cross-sectional and mono-method experimental setup.</a:t>
            </a:r>
            <a:endParaRPr dirty="0"/>
          </a:p>
        </p:txBody>
      </p:sp>
    </p:spTree>
    <p:extLst>
      <p:ext uri="{BB962C8B-B14F-4D97-AF65-F5344CB8AC3E}">
        <p14:creationId xmlns:p14="http://schemas.microsoft.com/office/powerpoint/2010/main" val="40721498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Subsequently, a research pipeline was developed to create multiple datasets with additional derived features.</a:t>
            </a:r>
            <a:endParaRPr dirty="0"/>
          </a:p>
        </p:txBody>
      </p:sp>
    </p:spTree>
    <p:extLst>
      <p:ext uri="{BB962C8B-B14F-4D97-AF65-F5344CB8AC3E}">
        <p14:creationId xmlns:p14="http://schemas.microsoft.com/office/powerpoint/2010/main" val="8965240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a:extLst>
            <a:ext uri="{FF2B5EF4-FFF2-40B4-BE49-F238E27FC236}">
              <a16:creationId xmlns:a16="http://schemas.microsoft.com/office/drawing/2014/main" id="{AC470C6A-84AC-EA09-2465-199DDE9FC491}"/>
            </a:ext>
          </a:extLst>
        </p:cNvPr>
        <p:cNvGrpSpPr/>
        <p:nvPr/>
      </p:nvGrpSpPr>
      <p:grpSpPr>
        <a:xfrm>
          <a:off x="0" y="0"/>
          <a:ext cx="0" cy="0"/>
          <a:chOff x="0" y="0"/>
          <a:chExt cx="0" cy="0"/>
        </a:xfrm>
      </p:grpSpPr>
      <p:sp>
        <p:nvSpPr>
          <p:cNvPr id="57" name="Shape 57">
            <a:extLst>
              <a:ext uri="{FF2B5EF4-FFF2-40B4-BE49-F238E27FC236}">
                <a16:creationId xmlns:a16="http://schemas.microsoft.com/office/drawing/2014/main" id="{6CF1C6D9-2D46-2356-EB2D-6CE42CC47433}"/>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a:extLst>
              <a:ext uri="{FF2B5EF4-FFF2-40B4-BE49-F238E27FC236}">
                <a16:creationId xmlns:a16="http://schemas.microsoft.com/office/drawing/2014/main" id="{36DFFDC3-00A7-DECF-7386-E83C391335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extLst>
      <p:ext uri="{BB962C8B-B14F-4D97-AF65-F5344CB8AC3E}">
        <p14:creationId xmlns:p14="http://schemas.microsoft.com/office/powerpoint/2010/main" val="3218794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spcBef>
                <a:spcPts val="0"/>
              </a:spcBef>
              <a:spcAft>
                <a:spcPts val="0"/>
              </a:spcAft>
              <a:buFont typeface="Arial" panose="020B0604020202020204" pitchFamily="34" charset="0"/>
              <a:buChar char="•"/>
            </a:pPr>
            <a:endParaRPr lang="en-US" b="1" dirty="0"/>
          </a:p>
        </p:txBody>
      </p:sp>
    </p:spTree>
    <p:extLst>
      <p:ext uri="{BB962C8B-B14F-4D97-AF65-F5344CB8AC3E}">
        <p14:creationId xmlns:p14="http://schemas.microsoft.com/office/powerpoint/2010/main" val="82319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a:extLst>
            <a:ext uri="{FF2B5EF4-FFF2-40B4-BE49-F238E27FC236}">
              <a16:creationId xmlns:a16="http://schemas.microsoft.com/office/drawing/2014/main" id="{352642FC-C368-7017-6638-0A01037B5A10}"/>
            </a:ext>
          </a:extLst>
        </p:cNvPr>
        <p:cNvGrpSpPr/>
        <p:nvPr/>
      </p:nvGrpSpPr>
      <p:grpSpPr>
        <a:xfrm>
          <a:off x="0" y="0"/>
          <a:ext cx="0" cy="0"/>
          <a:chOff x="0" y="0"/>
          <a:chExt cx="0" cy="0"/>
        </a:xfrm>
      </p:grpSpPr>
      <p:sp>
        <p:nvSpPr>
          <p:cNvPr id="57" name="Shape 57">
            <a:extLst>
              <a:ext uri="{FF2B5EF4-FFF2-40B4-BE49-F238E27FC236}">
                <a16:creationId xmlns:a16="http://schemas.microsoft.com/office/drawing/2014/main" id="{5C423A31-82AD-67B1-44DB-C9ED56FA580E}"/>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a:extLst>
              <a:ext uri="{FF2B5EF4-FFF2-40B4-BE49-F238E27FC236}">
                <a16:creationId xmlns:a16="http://schemas.microsoft.com/office/drawing/2014/main" id="{E5EE326D-66D8-537E-47DF-459B1A006F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spcBef>
                <a:spcPts val="0"/>
              </a:spcBef>
              <a:spcAft>
                <a:spcPts val="0"/>
              </a:spcAft>
              <a:buFont typeface="Arial" panose="020B0604020202020204" pitchFamily="34" charset="0"/>
              <a:buChar char="•"/>
            </a:pPr>
            <a:endParaRPr lang="en-US" b="1" dirty="0"/>
          </a:p>
        </p:txBody>
      </p:sp>
    </p:spTree>
    <p:extLst>
      <p:ext uri="{BB962C8B-B14F-4D97-AF65-F5344CB8AC3E}">
        <p14:creationId xmlns:p14="http://schemas.microsoft.com/office/powerpoint/2010/main" val="30426113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a:extLst>
            <a:ext uri="{FF2B5EF4-FFF2-40B4-BE49-F238E27FC236}">
              <a16:creationId xmlns:a16="http://schemas.microsoft.com/office/drawing/2014/main" id="{4669D237-7568-DFFF-104D-C0FFDBF5F9A4}"/>
            </a:ext>
          </a:extLst>
        </p:cNvPr>
        <p:cNvGrpSpPr/>
        <p:nvPr/>
      </p:nvGrpSpPr>
      <p:grpSpPr>
        <a:xfrm>
          <a:off x="0" y="0"/>
          <a:ext cx="0" cy="0"/>
          <a:chOff x="0" y="0"/>
          <a:chExt cx="0" cy="0"/>
        </a:xfrm>
      </p:grpSpPr>
      <p:sp>
        <p:nvSpPr>
          <p:cNvPr id="57" name="Shape 57">
            <a:extLst>
              <a:ext uri="{FF2B5EF4-FFF2-40B4-BE49-F238E27FC236}">
                <a16:creationId xmlns:a16="http://schemas.microsoft.com/office/drawing/2014/main" id="{7E577EAF-2D03-9255-B2CD-CF8C6D816AE4}"/>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a:extLst>
              <a:ext uri="{FF2B5EF4-FFF2-40B4-BE49-F238E27FC236}">
                <a16:creationId xmlns:a16="http://schemas.microsoft.com/office/drawing/2014/main" id="{6F751BC5-EE7B-3E0A-8C28-189568671F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spcBef>
                <a:spcPts val="0"/>
              </a:spcBef>
              <a:spcAft>
                <a:spcPts val="0"/>
              </a:spcAft>
              <a:buFont typeface="Arial" panose="020B0604020202020204" pitchFamily="34" charset="0"/>
              <a:buChar char="•"/>
            </a:pPr>
            <a:endParaRPr lang="en-US" b="1" dirty="0"/>
          </a:p>
        </p:txBody>
      </p:sp>
    </p:spTree>
    <p:extLst>
      <p:ext uri="{BB962C8B-B14F-4D97-AF65-F5344CB8AC3E}">
        <p14:creationId xmlns:p14="http://schemas.microsoft.com/office/powerpoint/2010/main" val="8848299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8" name="Shape 58"/>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extLst>
      <p:ext uri="{BB962C8B-B14F-4D97-AF65-F5344CB8AC3E}">
        <p14:creationId xmlns:p14="http://schemas.microsoft.com/office/powerpoint/2010/main" val="3294784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Shape 1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Shape 1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Shape 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Shape 1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Shape 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Shape 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Shape 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preserve="1" userDrawn="1">
  <p:cSld name="1_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Shape 18"/>
          <p:cNvSpPr txBox="1">
            <a:spLocks noGrp="1"/>
          </p:cNvSpPr>
          <p:nvPr>
            <p:ph type="body" idx="1"/>
          </p:nvPr>
        </p:nvSpPr>
        <p:spPr>
          <a:xfrm>
            <a:off x="311700" y="1152475"/>
            <a:ext cx="393034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dirty="0"/>
          </a:p>
        </p:txBody>
      </p:sp>
      <p:sp>
        <p:nvSpPr>
          <p:cNvPr id="19" name="Shape 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
        <p:nvSpPr>
          <p:cNvPr id="4" name="Picture Placeholder 3">
            <a:extLst>
              <a:ext uri="{FF2B5EF4-FFF2-40B4-BE49-F238E27FC236}">
                <a16:creationId xmlns:a16="http://schemas.microsoft.com/office/drawing/2014/main" id="{6C5A610E-6324-4C28-9F4D-98C43BE8E1AA}"/>
              </a:ext>
            </a:extLst>
          </p:cNvPr>
          <p:cNvSpPr>
            <a:spLocks noGrp="1"/>
          </p:cNvSpPr>
          <p:nvPr>
            <p:ph type="pic" sz="quarter" idx="13"/>
          </p:nvPr>
        </p:nvSpPr>
        <p:spPr>
          <a:xfrm>
            <a:off x="4335552" y="1151118"/>
            <a:ext cx="4495740" cy="3420882"/>
          </a:xfrm>
        </p:spPr>
        <p:txBody>
          <a:bodyPr/>
          <a:lstStyle/>
          <a:p>
            <a:endParaRPr lang="en-GB" dirty="0"/>
          </a:p>
        </p:txBody>
      </p:sp>
    </p:spTree>
    <p:extLst>
      <p:ext uri="{BB962C8B-B14F-4D97-AF65-F5344CB8AC3E}">
        <p14:creationId xmlns:p14="http://schemas.microsoft.com/office/powerpoint/2010/main" val="23571972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Shape 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Shape 2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Shape 3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Shape 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Shape 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Shape 3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Shape 3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Shape 3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Shape 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Shape 4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800"/>
              <a:buNone/>
              <a:defRPr/>
            </a:lvl1pPr>
          </a:lstStyle>
          <a:p>
            <a:endParaRPr/>
          </a:p>
        </p:txBody>
      </p:sp>
      <p:sp>
        <p:nvSpPr>
          <p:cNvPr id="43" name="Shape 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Shape 45"/>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Shape 4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Shape 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Shape 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Shape 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Shape 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60"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dl.acm.org/doi/10.1145/3383313.3412220"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www.thieme-connect.de/DOI/DOI?10.1055/a-2401-6234"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Shape 54"/>
          <p:cNvSpPr txBox="1">
            <a:spLocks noGrp="1"/>
          </p:cNvSpPr>
          <p:nvPr>
            <p:ph type="ctrTitle"/>
          </p:nvPr>
        </p:nvSpPr>
        <p:spPr>
          <a:xfrm>
            <a:off x="311708" y="518985"/>
            <a:ext cx="8520600" cy="2278190"/>
          </a:xfrm>
          <a:prstGeom prst="rect">
            <a:avLst/>
          </a:prstGeom>
        </p:spPr>
        <p:txBody>
          <a:bodyPr spcFirstLastPara="1" wrap="square" lIns="91425" tIns="91425" rIns="91425" bIns="91425" anchor="b" anchorCtr="0">
            <a:noAutofit/>
          </a:bodyPr>
          <a:lstStyle/>
          <a:p>
            <a:pPr lvl="0"/>
            <a:r>
              <a:rPr lang="en-US" sz="4000" b="1" dirty="0">
                <a:latin typeface="Raleway"/>
                <a:ea typeface="Raleway"/>
                <a:cs typeface="Raleway"/>
                <a:sym typeface="Raleway"/>
              </a:rPr>
              <a:t>Tree-Based Machine Learning Regression Models for Predicting </a:t>
            </a:r>
            <a:br>
              <a:rPr lang="en-US" sz="4000" b="1" dirty="0">
                <a:latin typeface="Raleway"/>
                <a:ea typeface="Raleway"/>
                <a:cs typeface="Raleway"/>
                <a:sym typeface="Raleway"/>
              </a:rPr>
            </a:br>
            <a:r>
              <a:rPr lang="en-US" sz="4000" b="1" dirty="0">
                <a:latin typeface="Raleway"/>
                <a:ea typeface="Raleway"/>
                <a:cs typeface="Raleway"/>
                <a:sym typeface="Raleway"/>
              </a:rPr>
              <a:t>Marathon Race Times</a:t>
            </a:r>
            <a:endParaRPr sz="4000" b="1" dirty="0">
              <a:latin typeface="Raleway"/>
              <a:ea typeface="Raleway"/>
              <a:cs typeface="Raleway"/>
              <a:sym typeface="Raleway"/>
            </a:endParaRPr>
          </a:p>
        </p:txBody>
      </p:sp>
      <p:sp>
        <p:nvSpPr>
          <p:cNvPr id="55" name="Shape 55"/>
          <p:cNvSpPr txBox="1">
            <a:spLocks noGrp="1"/>
          </p:cNvSpPr>
          <p:nvPr>
            <p:ph type="subTitle" idx="1"/>
          </p:nvPr>
        </p:nvSpPr>
        <p:spPr>
          <a:xfrm>
            <a:off x="311700" y="2834124"/>
            <a:ext cx="8520600" cy="2125333"/>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latin typeface="Lato"/>
                <a:ea typeface="Lato"/>
                <a:cs typeface="Lato"/>
                <a:sym typeface="Lato"/>
              </a:rPr>
              <a:t>Miguel Abela </a:t>
            </a:r>
            <a:r>
              <a:rPr lang="en" dirty="0">
                <a:latin typeface="Lato"/>
                <a:ea typeface="Lato"/>
                <a:cs typeface="Lato"/>
                <a:sym typeface="Lato"/>
              </a:rPr>
              <a:t>&amp; </a:t>
            </a:r>
            <a:r>
              <a:rPr lang="en-US" dirty="0">
                <a:latin typeface="Lato"/>
                <a:ea typeface="Lato"/>
                <a:cs typeface="Lato"/>
                <a:sym typeface="Lato"/>
              </a:rPr>
              <a:t>Daren Scerri</a:t>
            </a:r>
            <a:endParaRPr lang="en" dirty="0">
              <a:latin typeface="Lato"/>
              <a:ea typeface="Lato"/>
              <a:cs typeface="Lato"/>
              <a:sym typeface="Lato"/>
            </a:endParaRPr>
          </a:p>
          <a:p>
            <a:pPr marL="0" lvl="0" indent="0">
              <a:spcBef>
                <a:spcPts val="0"/>
              </a:spcBef>
              <a:spcAft>
                <a:spcPts val="0"/>
              </a:spcAft>
              <a:buNone/>
            </a:pPr>
            <a:r>
              <a:rPr lang="en" sz="2400" dirty="0">
                <a:latin typeface="Lato"/>
                <a:ea typeface="Lato"/>
                <a:cs typeface="Lato"/>
                <a:sym typeface="Lato"/>
              </a:rPr>
              <a:t>Institute of Information &amp; Communication Technology</a:t>
            </a:r>
          </a:p>
          <a:p>
            <a:pPr marL="0" lvl="0" indent="0">
              <a:spcBef>
                <a:spcPts val="0"/>
              </a:spcBef>
              <a:spcAft>
                <a:spcPts val="0"/>
              </a:spcAft>
              <a:buNone/>
            </a:pPr>
            <a:r>
              <a:rPr lang="en" sz="2400" dirty="0">
                <a:latin typeface="Lato"/>
                <a:ea typeface="Lato"/>
                <a:cs typeface="Lato"/>
                <a:sym typeface="Lato"/>
              </a:rPr>
              <a:t>MCAST, Paola, Malta</a:t>
            </a:r>
          </a:p>
          <a:p>
            <a:pPr marL="0" lvl="0" indent="0">
              <a:spcBef>
                <a:spcPts val="0"/>
              </a:spcBef>
              <a:spcAft>
                <a:spcPts val="0"/>
              </a:spcAft>
              <a:buNone/>
            </a:pPr>
            <a:endParaRPr lang="en" sz="2400" dirty="0">
              <a:latin typeface="Lato"/>
              <a:ea typeface="Lato"/>
              <a:cs typeface="Lato"/>
              <a:sym typeface="Lato"/>
            </a:endParaRPr>
          </a:p>
        </p:txBody>
      </p:sp>
      <p:cxnSp>
        <p:nvCxnSpPr>
          <p:cNvPr id="4" name="Straight Connector 3">
            <a:extLst>
              <a:ext uri="{FF2B5EF4-FFF2-40B4-BE49-F238E27FC236}">
                <a16:creationId xmlns:a16="http://schemas.microsoft.com/office/drawing/2014/main" id="{36CC284B-5107-E745-9630-DD6C2A410927}"/>
              </a:ext>
            </a:extLst>
          </p:cNvPr>
          <p:cNvCxnSpPr/>
          <p:nvPr/>
        </p:nvCxnSpPr>
        <p:spPr>
          <a:xfrm>
            <a:off x="119270" y="2794483"/>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8" name="Picture 7" descr="Shape&#10;&#10;Description automatically generated with medium confidence">
            <a:extLst>
              <a:ext uri="{FF2B5EF4-FFF2-40B4-BE49-F238E27FC236}">
                <a16:creationId xmlns:a16="http://schemas.microsoft.com/office/drawing/2014/main" id="{B8E9EC66-EE26-4981-8CB8-3FF197B22AAE}"/>
              </a:ext>
            </a:extLst>
          </p:cNvPr>
          <p:cNvPicPr>
            <a:picLocks noChangeAspect="1"/>
          </p:cNvPicPr>
          <p:nvPr/>
        </p:nvPicPr>
        <p:blipFill>
          <a:blip r:embed="rId3"/>
          <a:stretch>
            <a:fillRect/>
          </a:stretch>
        </p:blipFill>
        <p:spPr>
          <a:xfrm>
            <a:off x="6382381" y="4102874"/>
            <a:ext cx="2449919" cy="8565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xfrm>
            <a:off x="311700" y="445025"/>
            <a:ext cx="8520600" cy="981900"/>
          </a:xfrm>
          <a:prstGeom prst="rect">
            <a:avLst/>
          </a:prstGeom>
        </p:spPr>
        <p:txBody>
          <a:bodyPr spcFirstLastPara="1" wrap="square" lIns="91425" tIns="91425" rIns="91425" bIns="91425" anchor="t" anchorCtr="0">
            <a:noAutofit/>
          </a:bodyPr>
          <a:lstStyle/>
          <a:p>
            <a:pPr lvl="0" algn="ctr"/>
            <a:r>
              <a:rPr lang="en" b="1" dirty="0">
                <a:latin typeface="Raleway"/>
                <a:ea typeface="Raleway"/>
                <a:cs typeface="Raleway"/>
                <a:sym typeface="Raleway"/>
              </a:rPr>
              <a:t>Background, Hypothesis &amp; Questions</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EE6088A9-71E6-8549-BEC2-BFBC476C30CA}"/>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83BEE64-D478-46E3-9F61-901B1B8AD7B9}"/>
              </a:ext>
            </a:extLst>
          </p:cNvPr>
          <p:cNvSpPr>
            <a:spLocks noGrp="1"/>
          </p:cNvSpPr>
          <p:nvPr>
            <p:ph type="body" idx="1"/>
          </p:nvPr>
        </p:nvSpPr>
        <p:spPr>
          <a:xfrm>
            <a:off x="311700" y="1152475"/>
            <a:ext cx="8520600" cy="3416400"/>
          </a:xfrm>
        </p:spPr>
        <p:txBody>
          <a:bodyPr/>
          <a:lstStyle/>
          <a:p>
            <a:pPr algn="just"/>
            <a:r>
              <a:rPr lang="en-GB" sz="1600" dirty="0"/>
              <a:t>The popularity of long-distance endurance running led to the importance of predictive race-day algorithms. Such algorithm development remains a challenge.</a:t>
            </a:r>
          </a:p>
          <a:p>
            <a:pPr algn="just"/>
            <a:endParaRPr lang="en-GB" dirty="0"/>
          </a:p>
          <a:p>
            <a:pPr algn="just"/>
            <a:r>
              <a:rPr lang="en-GB" sz="1600" b="1" dirty="0"/>
              <a:t>Hypothesis:</a:t>
            </a:r>
            <a:r>
              <a:rPr lang="en-GB" sz="1600" dirty="0"/>
              <a:t> XGBoost will achieve the best predictive performance compared to Random Forest, specifically at Week 16.</a:t>
            </a:r>
          </a:p>
          <a:p>
            <a:pPr algn="just"/>
            <a:endParaRPr lang="en-GB" dirty="0"/>
          </a:p>
          <a:p>
            <a:pPr algn="just"/>
            <a:r>
              <a:rPr lang="en-GB" sz="1600" b="1" dirty="0"/>
              <a:t>Research Questions:</a:t>
            </a:r>
          </a:p>
          <a:p>
            <a:pPr lvl="1" algn="just"/>
            <a:r>
              <a:rPr lang="en-US" b="1" dirty="0"/>
              <a:t>RQ1:</a:t>
            </a:r>
            <a:r>
              <a:rPr lang="en-US" dirty="0"/>
              <a:t> Which tree-based machine learning regressor obtains the highest predictive performance when forecasting an athlete’s marathon race time?</a:t>
            </a:r>
          </a:p>
          <a:p>
            <a:pPr lvl="1" algn="just"/>
            <a:r>
              <a:rPr lang="en-US" b="1" dirty="0"/>
              <a:t>RQ2:</a:t>
            </a:r>
            <a:r>
              <a:rPr lang="en-US" dirty="0"/>
              <a:t> To what extent does the amount of weekly historical data affect the predictive accuracy?</a:t>
            </a:r>
          </a:p>
          <a:p>
            <a:pPr lvl="1" algn="just"/>
            <a:endParaRPr lang="en-GB" dirty="0"/>
          </a:p>
          <a:p>
            <a:pPr algn="just"/>
            <a:endParaRPr lang="en-GB" dirty="0"/>
          </a:p>
        </p:txBody>
      </p:sp>
    </p:spTree>
    <p:extLst>
      <p:ext uri="{BB962C8B-B14F-4D97-AF65-F5344CB8AC3E}">
        <p14:creationId xmlns:p14="http://schemas.microsoft.com/office/powerpoint/2010/main" val="1491059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prstGeom prst="rect">
            <a:avLst/>
          </a:prstGeom>
        </p:spPr>
        <p:txBody>
          <a:bodyPr spcFirstLastPara="1" wrap="square" lIns="91425" tIns="91425" rIns="91425" bIns="91425" anchor="t" anchorCtr="0">
            <a:noAutofit/>
          </a:bodyPr>
          <a:lstStyle/>
          <a:p>
            <a:pPr lvl="0" algn="ctr"/>
            <a:r>
              <a:rPr lang="en-GB" b="1" dirty="0">
                <a:latin typeface="Raleway"/>
                <a:ea typeface="Raleway"/>
                <a:cs typeface="Raleway"/>
                <a:sym typeface="Raleway"/>
              </a:rPr>
              <a:t>Methodological Framework</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EE6088A9-71E6-8549-BEC2-BFBC476C30CA}"/>
              </a:ext>
            </a:extLst>
          </p:cNvPr>
          <p:cNvCxnSpPr>
            <a:cxnSpLocks/>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DD4D509C-F336-04FC-99FE-48AB99B487FE}"/>
              </a:ext>
            </a:extLst>
          </p:cNvPr>
          <p:cNvPicPr>
            <a:picLocks noChangeAspect="1"/>
          </p:cNvPicPr>
          <p:nvPr/>
        </p:nvPicPr>
        <p:blipFill>
          <a:blip r:embed="rId3"/>
          <a:stretch>
            <a:fillRect/>
          </a:stretch>
        </p:blipFill>
        <p:spPr>
          <a:xfrm>
            <a:off x="1904696" y="1121052"/>
            <a:ext cx="5334607" cy="3813411"/>
          </a:xfrm>
          <a:prstGeom prst="rect">
            <a:avLst/>
          </a:prstGeom>
          <a:ln>
            <a:solidFill>
              <a:schemeClr val="tx1"/>
            </a:solidFill>
          </a:ln>
        </p:spPr>
      </p:pic>
    </p:spTree>
    <p:extLst>
      <p:ext uri="{BB962C8B-B14F-4D97-AF65-F5344CB8AC3E}">
        <p14:creationId xmlns:p14="http://schemas.microsoft.com/office/powerpoint/2010/main" val="3392495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xfrm>
            <a:off x="140159" y="2299494"/>
            <a:ext cx="2539690" cy="544512"/>
          </a:xfrm>
          <a:prstGeom prst="rect">
            <a:avLst/>
          </a:prstGeom>
        </p:spPr>
        <p:txBody>
          <a:bodyPr spcFirstLastPara="1" wrap="square" lIns="91425" tIns="91425" rIns="91425" bIns="91425" anchor="t" anchorCtr="0">
            <a:noAutofit/>
          </a:bodyPr>
          <a:lstStyle/>
          <a:p>
            <a:pPr lvl="0" algn="ctr"/>
            <a:r>
              <a:rPr lang="en-GB" sz="2400" b="1" dirty="0">
                <a:latin typeface="Raleway"/>
                <a:ea typeface="Raleway"/>
                <a:cs typeface="Raleway"/>
                <a:sym typeface="Raleway"/>
              </a:rPr>
              <a:t>Research Pipeline</a:t>
            </a:r>
            <a:br>
              <a:rPr lang="en-GB" sz="2400" b="1" dirty="0">
                <a:latin typeface="Raleway"/>
                <a:ea typeface="Raleway"/>
                <a:cs typeface="Raleway"/>
                <a:sym typeface="Raleway"/>
              </a:rPr>
            </a:br>
            <a:endParaRPr sz="18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EE6088A9-71E6-8549-BEC2-BFBC476C30CA}"/>
              </a:ext>
            </a:extLst>
          </p:cNvPr>
          <p:cNvCxnSpPr>
            <a:cxnSpLocks/>
          </p:cNvCxnSpPr>
          <p:nvPr/>
        </p:nvCxnSpPr>
        <p:spPr>
          <a:xfrm flipV="1">
            <a:off x="2806667" y="357641"/>
            <a:ext cx="0" cy="4394732"/>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DD56834D-A409-78E2-7041-4DA213054C9D}"/>
              </a:ext>
            </a:extLst>
          </p:cNvPr>
          <p:cNvPicPr>
            <a:picLocks noChangeAspect="1"/>
          </p:cNvPicPr>
          <p:nvPr/>
        </p:nvPicPr>
        <p:blipFill>
          <a:blip r:embed="rId3"/>
          <a:stretch>
            <a:fillRect/>
          </a:stretch>
        </p:blipFill>
        <p:spPr>
          <a:xfrm>
            <a:off x="3060305" y="388768"/>
            <a:ext cx="5712994" cy="4365964"/>
          </a:xfrm>
          <a:prstGeom prst="rect">
            <a:avLst/>
          </a:prstGeom>
        </p:spPr>
      </p:pic>
    </p:spTree>
    <p:extLst>
      <p:ext uri="{BB962C8B-B14F-4D97-AF65-F5344CB8AC3E}">
        <p14:creationId xmlns:p14="http://schemas.microsoft.com/office/powerpoint/2010/main" val="28519863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9">
          <a:extLst>
            <a:ext uri="{FF2B5EF4-FFF2-40B4-BE49-F238E27FC236}">
              <a16:creationId xmlns:a16="http://schemas.microsoft.com/office/drawing/2014/main" id="{3B222FFE-F1A4-2B41-28A6-0B50BA953F5B}"/>
            </a:ext>
          </a:extLst>
        </p:cNvPr>
        <p:cNvGrpSpPr/>
        <p:nvPr/>
      </p:nvGrpSpPr>
      <p:grpSpPr>
        <a:xfrm>
          <a:off x="0" y="0"/>
          <a:ext cx="0" cy="0"/>
          <a:chOff x="0" y="0"/>
          <a:chExt cx="0" cy="0"/>
        </a:xfrm>
      </p:grpSpPr>
      <p:sp>
        <p:nvSpPr>
          <p:cNvPr id="60" name="Shape 60">
            <a:extLst>
              <a:ext uri="{FF2B5EF4-FFF2-40B4-BE49-F238E27FC236}">
                <a16:creationId xmlns:a16="http://schemas.microsoft.com/office/drawing/2014/main" id="{9D7EA268-9C51-4C02-8B9C-B28AB0ABD040}"/>
              </a:ext>
            </a:extLst>
          </p:cNvPr>
          <p:cNvSpPr txBox="1">
            <a:spLocks noGrp="1"/>
          </p:cNvSpPr>
          <p:nvPr>
            <p:ph type="title"/>
          </p:nvPr>
        </p:nvSpPr>
        <p:spPr>
          <a:prstGeom prst="rect">
            <a:avLst/>
          </a:prstGeom>
        </p:spPr>
        <p:txBody>
          <a:bodyPr spcFirstLastPara="1" wrap="square" lIns="91425" tIns="91425" rIns="91425" bIns="91425" anchor="t" anchorCtr="0">
            <a:noAutofit/>
          </a:bodyPr>
          <a:lstStyle/>
          <a:p>
            <a:pPr lvl="0" algn="ctr"/>
            <a:r>
              <a:rPr lang="en-GB" b="1" dirty="0">
                <a:latin typeface="Raleway"/>
                <a:ea typeface="Raleway"/>
                <a:cs typeface="Raleway"/>
                <a:sym typeface="Raleway"/>
              </a:rPr>
              <a:t>Methodology</a:t>
            </a:r>
            <a:endParaRPr sz="2000" b="1" dirty="0">
              <a:latin typeface="Raleway"/>
              <a:ea typeface="Raleway"/>
              <a:cs typeface="Raleway"/>
              <a:sym typeface="Raleway"/>
            </a:endParaRPr>
          </a:p>
        </p:txBody>
      </p:sp>
      <p:sp>
        <p:nvSpPr>
          <p:cNvPr id="2" name="Text Placeholder 1">
            <a:extLst>
              <a:ext uri="{FF2B5EF4-FFF2-40B4-BE49-F238E27FC236}">
                <a16:creationId xmlns:a16="http://schemas.microsoft.com/office/drawing/2014/main" id="{849C7E18-CD25-D1A6-358B-C891F9DBD0B6}"/>
              </a:ext>
            </a:extLst>
          </p:cNvPr>
          <p:cNvSpPr>
            <a:spLocks noGrp="1"/>
          </p:cNvSpPr>
          <p:nvPr>
            <p:ph type="body" idx="1"/>
          </p:nvPr>
        </p:nvSpPr>
        <p:spPr/>
        <p:txBody>
          <a:bodyPr numCol="1"/>
          <a:lstStyle/>
          <a:p>
            <a:pPr algn="just"/>
            <a:r>
              <a:rPr lang="en-GB" sz="1400" b="1" dirty="0"/>
              <a:t>Dataset:</a:t>
            </a:r>
            <a:r>
              <a:rPr lang="en-GB" sz="1400" dirty="0"/>
              <a:t> Anonymised daily athlete training data consisting of training-specific features</a:t>
            </a:r>
          </a:p>
          <a:p>
            <a:pPr algn="just"/>
            <a:endParaRPr lang="en-GB" sz="1400" dirty="0"/>
          </a:p>
          <a:p>
            <a:pPr algn="just"/>
            <a:r>
              <a:rPr lang="en-GB" sz="1400" b="1" dirty="0"/>
              <a:t>Experimental Setup:</a:t>
            </a:r>
          </a:p>
          <a:p>
            <a:pPr lvl="1" algn="just"/>
            <a:r>
              <a:rPr lang="en-GB" sz="1200" dirty="0"/>
              <a:t>Demographic-specific athlete data</a:t>
            </a:r>
            <a:endParaRPr lang="en-GB" sz="1100" dirty="0"/>
          </a:p>
          <a:p>
            <a:pPr lvl="1" algn="just"/>
            <a:r>
              <a:rPr lang="en-GB" sz="1200" dirty="0"/>
              <a:t>Six datasets of different training block lengths (16 weeks to 6 weeks) [1], and new engineered features, as recommended by [2]</a:t>
            </a:r>
          </a:p>
          <a:p>
            <a:pPr lvl="1" algn="just"/>
            <a:r>
              <a:rPr lang="en-GB" sz="1200" dirty="0"/>
              <a:t>Consistent model architectures as in the reference solution [3]</a:t>
            </a:r>
          </a:p>
          <a:p>
            <a:pPr lvl="1" algn="just"/>
            <a:r>
              <a:rPr lang="en-GB" sz="1200" dirty="0"/>
              <a:t>K-fold cross-validation technique, and repeated experiments, as adopted by [1] and [4], respectively</a:t>
            </a:r>
            <a:endParaRPr lang="en-GB" dirty="0"/>
          </a:p>
          <a:p>
            <a:pPr algn="just"/>
            <a:endParaRPr lang="en-GB" sz="1400" dirty="0"/>
          </a:p>
          <a:p>
            <a:pPr algn="just"/>
            <a:r>
              <a:rPr lang="en-GB" sz="1400" b="1" dirty="0"/>
              <a:t>Data Collection: </a:t>
            </a:r>
            <a:r>
              <a:rPr lang="en-GB" sz="1400" dirty="0"/>
              <a:t>Mean Absolute Error (MAE), Root Mean Squared Error (RMSE), and </a:t>
            </a:r>
            <a:r>
              <a:rPr lang="en-US" sz="1400" dirty="0"/>
              <a:t>R-squared [1, 2, 5, 6]</a:t>
            </a:r>
            <a:endParaRPr lang="en-GB" sz="1400" dirty="0"/>
          </a:p>
        </p:txBody>
      </p:sp>
      <p:cxnSp>
        <p:nvCxnSpPr>
          <p:cNvPr id="5" name="Straight Connector 4">
            <a:extLst>
              <a:ext uri="{FF2B5EF4-FFF2-40B4-BE49-F238E27FC236}">
                <a16:creationId xmlns:a16="http://schemas.microsoft.com/office/drawing/2014/main" id="{8CD6585E-A71C-DE43-CC16-6891CF4338F8}"/>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96186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xfrm>
            <a:off x="311700" y="445025"/>
            <a:ext cx="8520600" cy="98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b="1" dirty="0">
                <a:latin typeface="Raleway"/>
                <a:ea typeface="Raleway"/>
                <a:cs typeface="Raleway"/>
                <a:sym typeface="Raleway"/>
              </a:rPr>
              <a:t>Results &amp; Findings</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EE6088A9-71E6-8549-BEC2-BFBC476C30CA}"/>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ext Placeholder 5">
            <a:extLst>
              <a:ext uri="{FF2B5EF4-FFF2-40B4-BE49-F238E27FC236}">
                <a16:creationId xmlns:a16="http://schemas.microsoft.com/office/drawing/2014/main" id="{CC83A401-804E-4E5B-9630-D373582A7E0B}"/>
              </a:ext>
            </a:extLst>
          </p:cNvPr>
          <p:cNvSpPr>
            <a:spLocks noGrp="1"/>
          </p:cNvSpPr>
          <p:nvPr>
            <p:ph type="body" idx="1"/>
          </p:nvPr>
        </p:nvSpPr>
        <p:spPr>
          <a:xfrm>
            <a:off x="316285" y="1176338"/>
            <a:ext cx="8430046" cy="3344411"/>
          </a:xfrm>
        </p:spPr>
        <p:txBody>
          <a:bodyPr/>
          <a:lstStyle/>
          <a:p>
            <a:endParaRPr lang="en-US" sz="1050" dirty="0"/>
          </a:p>
          <a:p>
            <a:pPr marL="114300" indent="0">
              <a:buNone/>
            </a:pPr>
            <a:endParaRPr lang="en-US" sz="1050" dirty="0"/>
          </a:p>
          <a:p>
            <a:pPr lvl="1">
              <a:spcBef>
                <a:spcPts val="0"/>
              </a:spcBef>
            </a:pPr>
            <a:endParaRPr lang="en-US" sz="800" dirty="0"/>
          </a:p>
          <a:p>
            <a:pPr marL="596900" lvl="1" indent="0">
              <a:spcBef>
                <a:spcPts val="0"/>
              </a:spcBef>
              <a:buNone/>
            </a:pPr>
            <a:endParaRPr lang="en-US" sz="800" dirty="0"/>
          </a:p>
          <a:p>
            <a:endParaRPr lang="en-US" sz="800" dirty="0"/>
          </a:p>
        </p:txBody>
      </p:sp>
      <p:pic>
        <p:nvPicPr>
          <p:cNvPr id="3" name="Picture 2">
            <a:extLst>
              <a:ext uri="{FF2B5EF4-FFF2-40B4-BE49-F238E27FC236}">
                <a16:creationId xmlns:a16="http://schemas.microsoft.com/office/drawing/2014/main" id="{ADA500F0-BFBE-D7E0-2AE4-1D619C00CEE7}"/>
              </a:ext>
            </a:extLst>
          </p:cNvPr>
          <p:cNvPicPr>
            <a:picLocks noChangeAspect="1"/>
          </p:cNvPicPr>
          <p:nvPr/>
        </p:nvPicPr>
        <p:blipFill>
          <a:blip r:embed="rId3"/>
          <a:stretch>
            <a:fillRect/>
          </a:stretch>
        </p:blipFill>
        <p:spPr>
          <a:xfrm>
            <a:off x="158142" y="1426925"/>
            <a:ext cx="8827715" cy="2563604"/>
          </a:xfrm>
          <a:prstGeom prst="rect">
            <a:avLst/>
          </a:prstGeom>
        </p:spPr>
      </p:pic>
    </p:spTree>
    <p:extLst>
      <p:ext uri="{BB962C8B-B14F-4D97-AF65-F5344CB8AC3E}">
        <p14:creationId xmlns:p14="http://schemas.microsoft.com/office/powerpoint/2010/main" val="73567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
          <a:extLst>
            <a:ext uri="{FF2B5EF4-FFF2-40B4-BE49-F238E27FC236}">
              <a16:creationId xmlns:a16="http://schemas.microsoft.com/office/drawing/2014/main" id="{C92CB6AC-6CB2-58F4-2642-4897577F0802}"/>
            </a:ext>
          </a:extLst>
        </p:cNvPr>
        <p:cNvGrpSpPr/>
        <p:nvPr/>
      </p:nvGrpSpPr>
      <p:grpSpPr>
        <a:xfrm>
          <a:off x="0" y="0"/>
          <a:ext cx="0" cy="0"/>
          <a:chOff x="0" y="0"/>
          <a:chExt cx="0" cy="0"/>
        </a:xfrm>
      </p:grpSpPr>
      <p:sp>
        <p:nvSpPr>
          <p:cNvPr id="60" name="Shape 60">
            <a:extLst>
              <a:ext uri="{FF2B5EF4-FFF2-40B4-BE49-F238E27FC236}">
                <a16:creationId xmlns:a16="http://schemas.microsoft.com/office/drawing/2014/main" id="{AB41DC85-F9D2-B4B7-E7DB-0650DC802AA9}"/>
              </a:ext>
            </a:extLst>
          </p:cNvPr>
          <p:cNvSpPr txBox="1">
            <a:spLocks noGrp="1"/>
          </p:cNvSpPr>
          <p:nvPr>
            <p:ph type="title"/>
          </p:nvPr>
        </p:nvSpPr>
        <p:spPr>
          <a:xfrm>
            <a:off x="311700" y="445025"/>
            <a:ext cx="8520600" cy="98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b="1" dirty="0">
                <a:latin typeface="Raleway"/>
                <a:ea typeface="Raleway"/>
                <a:cs typeface="Raleway"/>
                <a:sym typeface="Raleway"/>
              </a:rPr>
              <a:t>Conclusions</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7B7C26BD-4994-473D-F89F-4A1380FD4C79}"/>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B1131231-06EF-163E-E726-EE94DE0E3BB7}"/>
              </a:ext>
            </a:extLst>
          </p:cNvPr>
          <p:cNvSpPr>
            <a:spLocks noGrp="1"/>
          </p:cNvSpPr>
          <p:nvPr>
            <p:ph type="body" idx="1"/>
          </p:nvPr>
        </p:nvSpPr>
        <p:spPr/>
        <p:txBody>
          <a:bodyPr/>
          <a:lstStyle/>
          <a:p>
            <a:pPr algn="just"/>
            <a:r>
              <a:rPr lang="en-US" sz="1600" b="1" dirty="0"/>
              <a:t>RQ1:</a:t>
            </a:r>
            <a:r>
              <a:rPr lang="en-US" sz="1600" dirty="0"/>
              <a:t> </a:t>
            </a:r>
            <a:r>
              <a:rPr lang="en-US" sz="1600" i="1" dirty="0"/>
              <a:t>Which tree-based machine learning regressor obtains the highest predictive performance when forecasting an athlete’s marathon race time?</a:t>
            </a:r>
          </a:p>
          <a:p>
            <a:pPr lvl="1" algn="just"/>
            <a:r>
              <a:rPr lang="en-US" dirty="0"/>
              <a:t>Random Forest consistently outperformed XGBoost across all time steps</a:t>
            </a:r>
          </a:p>
          <a:p>
            <a:pPr marL="114300" indent="0" algn="just">
              <a:buNone/>
            </a:pPr>
            <a:endParaRPr lang="en-US" dirty="0"/>
          </a:p>
          <a:p>
            <a:pPr algn="just"/>
            <a:r>
              <a:rPr lang="en-US" sz="1600" b="1" dirty="0"/>
              <a:t>RQ2: </a:t>
            </a:r>
            <a:r>
              <a:rPr lang="en-US" sz="1600" i="1" dirty="0"/>
              <a:t>To what extent does the amount of weekly historical data affect the predictive accuracy?</a:t>
            </a:r>
          </a:p>
          <a:p>
            <a:pPr lvl="1" algn="just"/>
            <a:r>
              <a:rPr lang="en-US" dirty="0"/>
              <a:t>Predictive accuracy improved across all timesteps, reaching its peak at Week 6</a:t>
            </a:r>
          </a:p>
          <a:p>
            <a:pPr marL="114300" indent="0" algn="just">
              <a:buNone/>
            </a:pPr>
            <a:endParaRPr lang="en-US" sz="1600" dirty="0"/>
          </a:p>
          <a:p>
            <a:pPr algn="just"/>
            <a:r>
              <a:rPr lang="en-US" sz="1600" b="1" dirty="0"/>
              <a:t>Hypothesis:</a:t>
            </a:r>
            <a:r>
              <a:rPr lang="en-US" sz="1600" dirty="0"/>
              <a:t> The original hypothesis was rejected, provoking the contrary, with Random Forest being the superior model, achieving the best predictive performance at Week 6.</a:t>
            </a:r>
            <a:endParaRPr lang="en-US" sz="1600" b="1" dirty="0"/>
          </a:p>
        </p:txBody>
      </p:sp>
    </p:spTree>
    <p:extLst>
      <p:ext uri="{BB962C8B-B14F-4D97-AF65-F5344CB8AC3E}">
        <p14:creationId xmlns:p14="http://schemas.microsoft.com/office/powerpoint/2010/main" val="3017532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9">
          <a:extLst>
            <a:ext uri="{FF2B5EF4-FFF2-40B4-BE49-F238E27FC236}">
              <a16:creationId xmlns:a16="http://schemas.microsoft.com/office/drawing/2014/main" id="{F68931D7-53A5-9820-A65D-25AC55241EB7}"/>
            </a:ext>
          </a:extLst>
        </p:cNvPr>
        <p:cNvGrpSpPr/>
        <p:nvPr/>
      </p:nvGrpSpPr>
      <p:grpSpPr>
        <a:xfrm>
          <a:off x="0" y="0"/>
          <a:ext cx="0" cy="0"/>
          <a:chOff x="0" y="0"/>
          <a:chExt cx="0" cy="0"/>
        </a:xfrm>
      </p:grpSpPr>
      <p:sp>
        <p:nvSpPr>
          <p:cNvPr id="60" name="Shape 60">
            <a:extLst>
              <a:ext uri="{FF2B5EF4-FFF2-40B4-BE49-F238E27FC236}">
                <a16:creationId xmlns:a16="http://schemas.microsoft.com/office/drawing/2014/main" id="{E1577A92-ED70-428E-07BD-3C55BD3984F4}"/>
              </a:ext>
            </a:extLst>
          </p:cNvPr>
          <p:cNvSpPr txBox="1">
            <a:spLocks noGrp="1"/>
          </p:cNvSpPr>
          <p:nvPr>
            <p:ph type="title"/>
          </p:nvPr>
        </p:nvSpPr>
        <p:spPr>
          <a:xfrm>
            <a:off x="311700" y="445025"/>
            <a:ext cx="8520600" cy="98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b="1" dirty="0">
                <a:latin typeface="Raleway"/>
                <a:ea typeface="Raleway"/>
                <a:cs typeface="Raleway"/>
                <a:sym typeface="Raleway"/>
              </a:rPr>
              <a:t>Limitations &amp; Future Work</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8D30B9B6-0B73-4566-9ECC-1E7AE9ADFAF4}"/>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56C22841-CF74-B0FB-4EF3-33B3F121D9EB}"/>
              </a:ext>
            </a:extLst>
          </p:cNvPr>
          <p:cNvSpPr>
            <a:spLocks noGrp="1"/>
          </p:cNvSpPr>
          <p:nvPr>
            <p:ph type="body" idx="1"/>
          </p:nvPr>
        </p:nvSpPr>
        <p:spPr/>
        <p:txBody>
          <a:bodyPr/>
          <a:lstStyle/>
          <a:p>
            <a:pPr algn="just"/>
            <a:r>
              <a:rPr lang="en-US" sz="1600" b="1" dirty="0"/>
              <a:t>Limitations:</a:t>
            </a:r>
          </a:p>
          <a:p>
            <a:pPr lvl="1" algn="just"/>
            <a:r>
              <a:rPr lang="en-US" sz="1200" dirty="0"/>
              <a:t>Data availability</a:t>
            </a:r>
          </a:p>
          <a:p>
            <a:pPr lvl="1" algn="just"/>
            <a:r>
              <a:rPr lang="en-US" sz="1200" dirty="0"/>
              <a:t>Generalizability</a:t>
            </a:r>
          </a:p>
          <a:p>
            <a:pPr algn="just"/>
            <a:endParaRPr lang="en-US" sz="1600" dirty="0"/>
          </a:p>
          <a:p>
            <a:pPr algn="just"/>
            <a:r>
              <a:rPr lang="en-US" sz="1600" b="1" dirty="0"/>
              <a:t>Future Work:</a:t>
            </a:r>
          </a:p>
          <a:p>
            <a:pPr lvl="1" algn="just"/>
            <a:r>
              <a:rPr lang="en-US" sz="1200" dirty="0"/>
              <a:t>Explore other demographic groups</a:t>
            </a:r>
          </a:p>
          <a:p>
            <a:pPr lvl="1" algn="just"/>
            <a:r>
              <a:rPr lang="en-US" sz="1200" dirty="0"/>
              <a:t>Hyperparameter tuning</a:t>
            </a:r>
          </a:p>
          <a:p>
            <a:pPr lvl="1" algn="just"/>
            <a:r>
              <a:rPr lang="en-US" sz="1200" dirty="0"/>
              <a:t>Utilization of other tree-based machine learning regressors</a:t>
            </a:r>
          </a:p>
          <a:p>
            <a:endParaRPr lang="en-US" sz="1600" dirty="0"/>
          </a:p>
          <a:p>
            <a:endParaRPr lang="en-US" dirty="0"/>
          </a:p>
        </p:txBody>
      </p:sp>
    </p:spTree>
    <p:extLst>
      <p:ext uri="{BB962C8B-B14F-4D97-AF65-F5344CB8AC3E}">
        <p14:creationId xmlns:p14="http://schemas.microsoft.com/office/powerpoint/2010/main" val="2803103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xfrm>
            <a:off x="311700" y="445025"/>
            <a:ext cx="8520600" cy="981900"/>
          </a:xfrm>
          <a:prstGeom prst="rect">
            <a:avLst/>
          </a:prstGeom>
        </p:spPr>
        <p:txBody>
          <a:bodyPr spcFirstLastPara="1" wrap="square" lIns="91425" tIns="91425" rIns="91425" bIns="91425" anchor="t" anchorCtr="0">
            <a:noAutofit/>
          </a:bodyPr>
          <a:lstStyle/>
          <a:p>
            <a:pPr lvl="0" algn="ctr"/>
            <a:r>
              <a:rPr lang="en-GB" b="1" dirty="0">
                <a:latin typeface="Raleway"/>
                <a:ea typeface="Raleway"/>
                <a:cs typeface="Raleway"/>
                <a:sym typeface="Raleway"/>
              </a:rPr>
              <a:t>References</a:t>
            </a:r>
            <a:endParaRPr sz="2000" b="1" dirty="0">
              <a:latin typeface="Raleway"/>
              <a:ea typeface="Raleway"/>
              <a:cs typeface="Raleway"/>
              <a:sym typeface="Raleway"/>
            </a:endParaRPr>
          </a:p>
        </p:txBody>
      </p:sp>
      <p:cxnSp>
        <p:nvCxnSpPr>
          <p:cNvPr id="5" name="Straight Connector 4">
            <a:extLst>
              <a:ext uri="{FF2B5EF4-FFF2-40B4-BE49-F238E27FC236}">
                <a16:creationId xmlns:a16="http://schemas.microsoft.com/office/drawing/2014/main" id="{EE6088A9-71E6-8549-BEC2-BFBC476C30CA}"/>
              </a:ext>
            </a:extLst>
          </p:cNvPr>
          <p:cNvCxnSpPr/>
          <p:nvPr/>
        </p:nvCxnSpPr>
        <p:spPr>
          <a:xfrm>
            <a:off x="112892" y="1002955"/>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ext Placeholder 5">
            <a:extLst>
              <a:ext uri="{FF2B5EF4-FFF2-40B4-BE49-F238E27FC236}">
                <a16:creationId xmlns:a16="http://schemas.microsoft.com/office/drawing/2014/main" id="{3EB4467E-1451-F45D-4472-6C2B5E238E4A}"/>
              </a:ext>
            </a:extLst>
          </p:cNvPr>
          <p:cNvSpPr>
            <a:spLocks noGrp="1"/>
          </p:cNvSpPr>
          <p:nvPr>
            <p:ph type="body" idx="1"/>
          </p:nvPr>
        </p:nvSpPr>
        <p:spPr>
          <a:xfrm>
            <a:off x="316285" y="1176338"/>
            <a:ext cx="8430046" cy="3344411"/>
          </a:xfrm>
        </p:spPr>
        <p:txBody>
          <a:bodyPr/>
          <a:lstStyle/>
          <a:p>
            <a:pPr marL="114300" indent="0" algn="just">
              <a:buNone/>
            </a:pPr>
            <a:r>
              <a:rPr lang="en-US" sz="1000" dirty="0"/>
              <a:t>[1] D. Ruiz-Mayo, E. Pulido, and G. </a:t>
            </a:r>
            <a:r>
              <a:rPr lang="en-US" sz="1000" dirty="0" err="1"/>
              <a:t>Martınez</a:t>
            </a:r>
            <a:r>
              <a:rPr lang="en-US" sz="1000" dirty="0"/>
              <a:t>-Munoz, “Marathon Performance Prediction of Amateur Runners based on Training Session Data.”</a:t>
            </a:r>
          </a:p>
          <a:p>
            <a:pPr marL="114300" indent="0" algn="just">
              <a:buNone/>
            </a:pPr>
            <a:endParaRPr lang="en-US" sz="1000" dirty="0"/>
          </a:p>
          <a:p>
            <a:pPr marL="114300" indent="0" algn="just">
              <a:buNone/>
            </a:pPr>
            <a:r>
              <a:rPr lang="en-US" sz="1000" dirty="0"/>
              <a:t>[2] C. Feely, B. Caulfield, A. Lawlor, and B. Smyth, “Providing Explainable Race-Time Predictions and Training Plan Recommendations to Marathon Runners,” in Fourteenth ACM Conference on Recommender Systems. Virtual Event Brazil: ACM, Sep. 2020, pp. 539–544. [Online]. Available: </a:t>
            </a:r>
            <a:r>
              <a:rPr lang="en-US" sz="1000" dirty="0">
                <a:hlinkClick r:id="rId3"/>
              </a:rPr>
              <a:t>https://dl.acm.org/doi/10.1145/3383313.3412220</a:t>
            </a:r>
            <a:endParaRPr lang="en-US" sz="1000" dirty="0"/>
          </a:p>
          <a:p>
            <a:pPr marL="114300" indent="0" algn="just">
              <a:buNone/>
            </a:pPr>
            <a:endParaRPr lang="en-US" sz="1000" dirty="0"/>
          </a:p>
          <a:p>
            <a:pPr marL="114300" indent="0" algn="just">
              <a:buNone/>
            </a:pPr>
            <a:r>
              <a:rPr lang="en-US" sz="1000" dirty="0"/>
              <a:t>[3] </a:t>
            </a:r>
            <a:r>
              <a:rPr lang="en-US" sz="1000" dirty="0" err="1"/>
              <a:t>zuskakluska</a:t>
            </a:r>
            <a:r>
              <a:rPr lang="en-US" sz="1000" dirty="0"/>
              <a:t>, “Intelligent marathon race predictions,” https://www. kaggle.com/code/</a:t>
            </a:r>
            <a:r>
              <a:rPr lang="en-US" sz="1000" dirty="0" err="1"/>
              <a:t>zuskakluska</a:t>
            </a:r>
            <a:r>
              <a:rPr lang="en-US" sz="1000" dirty="0"/>
              <a:t>/intelligent-marathon-race-predictions, 2025, [Online; accessed 11-April-2026].</a:t>
            </a:r>
          </a:p>
          <a:p>
            <a:pPr marL="114300" indent="0" algn="just">
              <a:buNone/>
            </a:pPr>
            <a:endParaRPr lang="en-US" sz="1000" dirty="0"/>
          </a:p>
          <a:p>
            <a:pPr marL="114300" indent="0" algn="just">
              <a:buNone/>
            </a:pPr>
            <a:r>
              <a:rPr lang="en-US" sz="1000" dirty="0"/>
              <a:t>[4] S. Dash, “Win Your Race Goal: A Generalized Approach to Prediction of Running Performance,” Sports Medicine International Open, vol. 08, no. CP, pp. a–2401–6234, Oct. 2024. [Online]. Available: </a:t>
            </a:r>
            <a:r>
              <a:rPr lang="en-US" sz="1000" dirty="0">
                <a:hlinkClick r:id="rId4"/>
              </a:rPr>
              <a:t>http://www.thieme-connect.de/DOI/DOI?10.1055/a-2401-6234</a:t>
            </a:r>
            <a:endParaRPr lang="en-US" sz="1000" dirty="0"/>
          </a:p>
          <a:p>
            <a:pPr marL="114300" indent="0" algn="just">
              <a:buNone/>
            </a:pPr>
            <a:endParaRPr lang="en-US" sz="1000" dirty="0"/>
          </a:p>
          <a:p>
            <a:pPr marL="114300" indent="0" algn="just">
              <a:buNone/>
            </a:pPr>
            <a:r>
              <a:rPr lang="en-US" sz="1000" dirty="0"/>
              <a:t>[5] L. Lerebourg, D. </a:t>
            </a:r>
            <a:r>
              <a:rPr lang="en-US" sz="1000" dirty="0" err="1"/>
              <a:t>Saboul</a:t>
            </a:r>
            <a:r>
              <a:rPr lang="en-US" sz="1000" dirty="0"/>
              <a:t>, M. </a:t>
            </a:r>
            <a:r>
              <a:rPr lang="en-US" sz="1000" dirty="0" err="1"/>
              <a:t>Cl´emenc¸on</a:t>
            </a:r>
            <a:r>
              <a:rPr lang="en-US" sz="1000" dirty="0"/>
              <a:t>, and J. B. </a:t>
            </a:r>
            <a:r>
              <a:rPr lang="en-US" sz="1000" dirty="0" err="1"/>
              <a:t>Coquart</a:t>
            </a:r>
            <a:r>
              <a:rPr lang="en-US" sz="1000" dirty="0"/>
              <a:t>, “Prediction of Marathon Performance using Artificial Intelligence,” International Journal of Sports Medicine, vol. 44, no. 05, pp. 352–360, May 2023. [Online]. Available: http://www.thieme-connect.de/DOI/DOI?10.1055/ a-1993-2371</a:t>
            </a:r>
          </a:p>
          <a:p>
            <a:pPr marL="114300" indent="0" algn="just">
              <a:buNone/>
            </a:pPr>
            <a:endParaRPr lang="en-US" sz="1000" dirty="0"/>
          </a:p>
          <a:p>
            <a:pPr marL="114300" indent="0" algn="just">
              <a:buNone/>
            </a:pPr>
            <a:r>
              <a:rPr lang="en-US" sz="1000" dirty="0"/>
              <a:t>[6] H. T. El-Kassabi, K. Khalil, and M. A. </a:t>
            </a:r>
            <a:r>
              <a:rPr lang="en-US" sz="1000" dirty="0" err="1"/>
              <a:t>Serhani</a:t>
            </a:r>
            <a:r>
              <a:rPr lang="en-US" sz="1000" dirty="0"/>
              <a:t>, “Deep Learning Approach for Forecasting Athletes’ Performance in Sports Tournaments,” in Proceedings of the 13th International Conference on Intelligent Systems: Theories and Applications. Rabat Morocco: ACM, Sep. 2020, pp. 1–6. [Online]. Available: https://dl.acm.org/doi/10.1145/3419604.3419786</a:t>
            </a:r>
          </a:p>
          <a:p>
            <a:pPr marL="114300" indent="0">
              <a:buNone/>
            </a:pPr>
            <a:endParaRPr lang="en-US" sz="1050" dirty="0"/>
          </a:p>
          <a:p>
            <a:pPr marL="114300" indent="0">
              <a:buNone/>
            </a:pPr>
            <a:endParaRPr lang="en-US" sz="1050" dirty="0"/>
          </a:p>
          <a:p>
            <a:pPr marL="114300" indent="0">
              <a:buNone/>
            </a:pPr>
            <a:endParaRPr lang="en-US" sz="1050" dirty="0"/>
          </a:p>
          <a:p>
            <a:pPr lvl="1">
              <a:spcBef>
                <a:spcPts val="0"/>
              </a:spcBef>
            </a:pPr>
            <a:endParaRPr lang="en-US" sz="800" dirty="0"/>
          </a:p>
          <a:p>
            <a:pPr marL="596900" lvl="1" indent="0">
              <a:spcBef>
                <a:spcPts val="0"/>
              </a:spcBef>
              <a:buNone/>
            </a:pPr>
            <a:endParaRPr lang="en-US" sz="800" dirty="0"/>
          </a:p>
          <a:p>
            <a:endParaRPr lang="en-US" sz="800" dirty="0"/>
          </a:p>
        </p:txBody>
      </p:sp>
    </p:spTree>
    <p:extLst>
      <p:ext uri="{BB962C8B-B14F-4D97-AF65-F5344CB8AC3E}">
        <p14:creationId xmlns:p14="http://schemas.microsoft.com/office/powerpoint/2010/main" val="17937953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0316E-7EDB-6341-901B-EA548A0F0CE2}"/>
              </a:ext>
            </a:extLst>
          </p:cNvPr>
          <p:cNvSpPr>
            <a:spLocks noGrp="1"/>
          </p:cNvSpPr>
          <p:nvPr>
            <p:ph type="title"/>
          </p:nvPr>
        </p:nvSpPr>
        <p:spPr>
          <a:xfrm>
            <a:off x="311700" y="2150849"/>
            <a:ext cx="8520600" cy="1294715"/>
          </a:xfrm>
        </p:spPr>
        <p:txBody>
          <a:bodyPr/>
          <a:lstStyle/>
          <a:p>
            <a:r>
              <a:rPr lang="en-US" b="1" dirty="0">
                <a:latin typeface="Raleway" panose="020B0604020202020204" charset="0"/>
              </a:rPr>
              <a:t>Thank you</a:t>
            </a:r>
            <a:br>
              <a:rPr lang="en-US" dirty="0"/>
            </a:br>
            <a:br>
              <a:rPr lang="en-US" sz="800" dirty="0"/>
            </a:br>
            <a:r>
              <a:rPr lang="en-US" sz="2000" dirty="0"/>
              <a:t>Miguel Abela, Daren Scerri</a:t>
            </a:r>
            <a:endParaRPr lang="en-US" dirty="0"/>
          </a:p>
        </p:txBody>
      </p:sp>
      <p:cxnSp>
        <p:nvCxnSpPr>
          <p:cNvPr id="3" name="Straight Connector 2">
            <a:extLst>
              <a:ext uri="{FF2B5EF4-FFF2-40B4-BE49-F238E27FC236}">
                <a16:creationId xmlns:a16="http://schemas.microsoft.com/office/drawing/2014/main" id="{5E3DAA63-4D00-0147-B9CF-24027D8A2FAF}"/>
              </a:ext>
            </a:extLst>
          </p:cNvPr>
          <p:cNvCxnSpPr/>
          <p:nvPr/>
        </p:nvCxnSpPr>
        <p:spPr>
          <a:xfrm>
            <a:off x="112644" y="2939288"/>
            <a:ext cx="8931965"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6" name="Picture 5" descr="Shape&#10;&#10;Description automatically generated with medium confidence">
            <a:extLst>
              <a:ext uri="{FF2B5EF4-FFF2-40B4-BE49-F238E27FC236}">
                <a16:creationId xmlns:a16="http://schemas.microsoft.com/office/drawing/2014/main" id="{59AEA123-F6BA-4DF5-9223-7478E8C81015}"/>
              </a:ext>
            </a:extLst>
          </p:cNvPr>
          <p:cNvPicPr>
            <a:picLocks noChangeAspect="1"/>
          </p:cNvPicPr>
          <p:nvPr/>
        </p:nvPicPr>
        <p:blipFill>
          <a:blip r:embed="rId2"/>
          <a:stretch>
            <a:fillRect/>
          </a:stretch>
        </p:blipFill>
        <p:spPr>
          <a:xfrm>
            <a:off x="2581742" y="3538134"/>
            <a:ext cx="3980515" cy="1391738"/>
          </a:xfrm>
          <a:prstGeom prst="rect">
            <a:avLst/>
          </a:prstGeom>
        </p:spPr>
      </p:pic>
    </p:spTree>
    <p:extLst>
      <p:ext uri="{BB962C8B-B14F-4D97-AF65-F5344CB8AC3E}">
        <p14:creationId xmlns:p14="http://schemas.microsoft.com/office/powerpoint/2010/main" val="279369413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B9C9BAE85AC824696340B84EAE46327" ma:contentTypeVersion="11" ma:contentTypeDescription="Create a new document." ma:contentTypeScope="" ma:versionID="91c83a4d36b47cc159eeda212718ddf0">
  <xsd:schema xmlns:xsd="http://www.w3.org/2001/XMLSchema" xmlns:xs="http://www.w3.org/2001/XMLSchema" xmlns:p="http://schemas.microsoft.com/office/2006/metadata/properties" xmlns:ns2="d17de636-3a20-4426-b1f0-60844d1a7157" xmlns:ns3="10616529-6cb0-43d7-b865-4daf29c215d1" targetNamespace="http://schemas.microsoft.com/office/2006/metadata/properties" ma:root="true" ma:fieldsID="13275efd5248ad822b5e77de4a07ba8d" ns2:_="" ns3:_="">
    <xsd:import namespace="d17de636-3a20-4426-b1f0-60844d1a7157"/>
    <xsd:import namespace="10616529-6cb0-43d7-b865-4daf29c215d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7de636-3a20-4426-b1f0-60844d1a715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b2918eac-b98b-469d-b8dc-95a04dc6b27e"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0616529-6cb0-43d7-b865-4daf29c215d1"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e20ab9d1-06af-43b9-afbb-b6bc8d8b69e8}" ma:internalName="TaxCatchAll" ma:showField="CatchAllData" ma:web="10616529-6cb0-43d7-b865-4daf29c215d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17de636-3a20-4426-b1f0-60844d1a7157">
      <Terms xmlns="http://schemas.microsoft.com/office/infopath/2007/PartnerControls"/>
    </lcf76f155ced4ddcb4097134ff3c332f>
    <TaxCatchAll xmlns="10616529-6cb0-43d7-b865-4daf29c215d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0FCD54-7BE1-4DF4-80C3-33338D52714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7de636-3a20-4426-b1f0-60844d1a7157"/>
    <ds:schemaRef ds:uri="10616529-6cb0-43d7-b865-4daf29c215d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3CE82D3-3DAB-415F-ABBA-4A99DAAF7228}">
  <ds:schemaRefs>
    <ds:schemaRef ds:uri="http://schemas.microsoft.com/office/2006/metadata/properties"/>
    <ds:schemaRef ds:uri="http://schemas.microsoft.com/office/infopath/2007/PartnerControls"/>
    <ds:schemaRef ds:uri="d17de636-3a20-4426-b1f0-60844d1a7157"/>
    <ds:schemaRef ds:uri="10616529-6cb0-43d7-b865-4daf29c215d1"/>
  </ds:schemaRefs>
</ds:datastoreItem>
</file>

<file path=customXml/itemProps3.xml><?xml version="1.0" encoding="utf-8"?>
<ds:datastoreItem xmlns:ds="http://schemas.openxmlformats.org/officeDocument/2006/customXml" ds:itemID="{78727EC3-027E-415E-8E65-39AD5268606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2317</TotalTime>
  <Words>836</Words>
  <Application>Microsoft Office PowerPoint</Application>
  <PresentationFormat>On-screen Show (16:9)</PresentationFormat>
  <Paragraphs>67</Paragraphs>
  <Slides>10</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Lato</vt:lpstr>
      <vt:lpstr>Arial</vt:lpstr>
      <vt:lpstr>Raleway</vt:lpstr>
      <vt:lpstr>Simple Light</vt:lpstr>
      <vt:lpstr>Tree-Based Machine Learning Regression Models for Predicting  Marathon Race Times</vt:lpstr>
      <vt:lpstr>Background, Hypothesis &amp; Questions</vt:lpstr>
      <vt:lpstr>Methodological Framework</vt:lpstr>
      <vt:lpstr>Research Pipeline </vt:lpstr>
      <vt:lpstr>Methodology</vt:lpstr>
      <vt:lpstr>Results &amp; Findings</vt:lpstr>
      <vt:lpstr>Conclusions</vt:lpstr>
      <vt:lpstr>Limitations &amp; Future Work</vt:lpstr>
      <vt:lpstr>References</vt:lpstr>
      <vt:lpstr>Thank you  Miguel Abela, Daren Scerri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cp:lastModifiedBy>Miguel Abela</cp:lastModifiedBy>
  <cp:revision>178</cp:revision>
  <dcterms:modified xsi:type="dcterms:W3CDTF">2026-05-10T00:36:53Z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0x0101008B9C9BAE85AC824696340B84EAE46327</vt:lpwstr>
  </property>
</Properties>
</file>